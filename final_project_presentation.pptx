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8ef81f961e4b15" /><Relationship Type="http://schemas.openxmlformats.org/officeDocument/2006/relationships/extended-properties" Target="/docProps/app.xml" Id="Ra8e51667e2774789" /><Relationship Type="http://schemas.openxmlformats.org/officeDocument/2006/relationships/officeDocument" Target="/ppt/presentation.xml" Id="R52cf79547de8430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9a5cd2cc954083"/>
  </p:sldMasterIdLst>
  <p:notesMasterIdLst>
    <p:notesMasterId xmlns:r="http://schemas.openxmlformats.org/officeDocument/2006/relationships" r:id="R6e42a2cc538743a5"/>
  </p:notesMasterIdLst>
  <p:sldIdLst>
    <p:sldId xmlns:r="http://schemas.openxmlformats.org/officeDocument/2006/relationships" id="256" r:id="Rde1aedc7f49e450c"/>
    <p:sldId xmlns:r="http://schemas.openxmlformats.org/officeDocument/2006/relationships" id="257" r:id="R8b20c29945704431"/>
    <p:sldId xmlns:r="http://schemas.openxmlformats.org/officeDocument/2006/relationships" id="258" r:id="R29b570bb07d1455f"/>
    <p:sldId xmlns:r="http://schemas.openxmlformats.org/officeDocument/2006/relationships" id="259" r:id="Rbefe373d04254fff"/>
    <p:sldId xmlns:r="http://schemas.openxmlformats.org/officeDocument/2006/relationships" id="260" r:id="R4ec3e91c724d47f5"/>
    <p:sldId xmlns:r="http://schemas.openxmlformats.org/officeDocument/2006/relationships" id="261" r:id="R0dc6011680394535"/>
    <p:sldId xmlns:r="http://schemas.openxmlformats.org/officeDocument/2006/relationships" id="262" r:id="Reeddd517aeea4d62"/>
    <p:sldId xmlns:r="http://schemas.openxmlformats.org/officeDocument/2006/relationships" id="263" r:id="Rddfa878716ad4315"/>
    <p:sldId xmlns:r="http://schemas.openxmlformats.org/officeDocument/2006/relationships" id="264" r:id="R1e2022f164104e6b"/>
    <p:sldId xmlns:r="http://schemas.openxmlformats.org/officeDocument/2006/relationships" id="265" r:id="R422d3527db224f2e"/>
    <p:sldId xmlns:r="http://schemas.openxmlformats.org/officeDocument/2006/relationships" id="266" r:id="R3731f7fefd404d2b"/>
    <p:sldId xmlns:r="http://schemas.openxmlformats.org/officeDocument/2006/relationships" id="267" r:id="Rca092f7c54e64ea8"/>
    <p:sldId xmlns:r="http://schemas.openxmlformats.org/officeDocument/2006/relationships" id="268" r:id="R58b4c85ce8814fb0"/>
    <p:sldId xmlns:r="http://schemas.openxmlformats.org/officeDocument/2006/relationships" id="269" r:id="R48b454ba34654e55"/>
    <p:sldId xmlns:r="http://schemas.openxmlformats.org/officeDocument/2006/relationships" id="270" r:id="Ra973fefec3a34f4b"/>
    <p:sldId xmlns:r="http://schemas.openxmlformats.org/officeDocument/2006/relationships" id="271" r:id="Rb6a4c2dbcc024a6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6b73f94560487d" /><Relationship Type="http://schemas.openxmlformats.org/officeDocument/2006/relationships/slideMaster" Target="/ppt/slideMasters/slideMaster1.xml" Id="Rd79a5cd2cc954083" /><Relationship Type="http://schemas.openxmlformats.org/officeDocument/2006/relationships/notesMaster" Target="/ppt/notesMasters/notesMaster1.xml" Id="R6e42a2cc538743a5" /><Relationship Type="http://schemas.openxmlformats.org/officeDocument/2006/relationships/presProps" Target="/ppt/presProps.xml" Id="R2b58e5ba67b54ba6" /><Relationship Type="http://schemas.openxmlformats.org/officeDocument/2006/relationships/tableStyles" Target="/ppt/tableStyles.xml" Id="R047bc25e03da463b" /><Relationship Type="http://schemas.openxmlformats.org/officeDocument/2006/relationships/slide" Target="/ppt/slides/slide1.xml" Id="Rde1aedc7f49e450c" /><Relationship Type="http://schemas.openxmlformats.org/officeDocument/2006/relationships/slide" Target="/ppt/slides/slide2.xml" Id="R8b20c29945704431" /><Relationship Type="http://schemas.openxmlformats.org/officeDocument/2006/relationships/slide" Target="/ppt/slides/slide3.xml" Id="R29b570bb07d1455f" /><Relationship Type="http://schemas.openxmlformats.org/officeDocument/2006/relationships/slide" Target="/ppt/slides/slide4.xml" Id="Rbefe373d04254fff" /><Relationship Type="http://schemas.openxmlformats.org/officeDocument/2006/relationships/slide" Target="/ppt/slides/slide5.xml" Id="R4ec3e91c724d47f5" /><Relationship Type="http://schemas.openxmlformats.org/officeDocument/2006/relationships/slide" Target="/ppt/slides/slide6.xml" Id="R0dc6011680394535" /><Relationship Type="http://schemas.openxmlformats.org/officeDocument/2006/relationships/slide" Target="/ppt/slides/slide7.xml" Id="Reeddd517aeea4d62" /><Relationship Type="http://schemas.openxmlformats.org/officeDocument/2006/relationships/slide" Target="/ppt/slides/slide8.xml" Id="Rddfa878716ad4315" /><Relationship Type="http://schemas.openxmlformats.org/officeDocument/2006/relationships/slide" Target="/ppt/slides/slide9.xml" Id="R1e2022f164104e6b" /><Relationship Type="http://schemas.openxmlformats.org/officeDocument/2006/relationships/slide" Target="/ppt/slides/slide10.xml" Id="R422d3527db224f2e" /><Relationship Type="http://schemas.openxmlformats.org/officeDocument/2006/relationships/slide" Target="/ppt/slides/slide11.xml" Id="R3731f7fefd404d2b" /><Relationship Type="http://schemas.openxmlformats.org/officeDocument/2006/relationships/slide" Target="/ppt/slides/slide12.xml" Id="Rca092f7c54e64ea8" /><Relationship Type="http://schemas.openxmlformats.org/officeDocument/2006/relationships/slide" Target="/ppt/slides/slide13.xml" Id="R58b4c85ce8814fb0" /><Relationship Type="http://schemas.openxmlformats.org/officeDocument/2006/relationships/slide" Target="/ppt/slides/slide14.xml" Id="R48b454ba34654e55" /><Relationship Type="http://schemas.openxmlformats.org/officeDocument/2006/relationships/slide" Target="/ppt/slides/slide15.xml" Id="Ra973fefec3a34f4b" /><Relationship Type="http://schemas.openxmlformats.org/officeDocument/2006/relationships/slide" Target="/ppt/slides/slide16.xml" Id="Rb6a4c2dbcc024a6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0e12679570e44e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c28654d8dea4b08" /><Relationship Type="http://schemas.openxmlformats.org/officeDocument/2006/relationships/notesMaster" Target="/ppt/notesMasters/notesMaster1.xml" Id="R0008a7bd3f594c7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87a929e3fe48f1" /><Relationship Type="http://schemas.openxmlformats.org/officeDocument/2006/relationships/notesMaster" Target="/ppt/notesMasters/notesMaster1.xml" Id="Re6a13847e9fc499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bff3db44c1044bc" /><Relationship Type="http://schemas.openxmlformats.org/officeDocument/2006/relationships/notesMaster" Target="/ppt/notesMasters/notesMaster1.xml" Id="Rc094ab09cd3d4c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9d186dd291c4111" /><Relationship Type="http://schemas.openxmlformats.org/officeDocument/2006/relationships/notesMaster" Target="/ppt/notesMasters/notesMaster1.xml" Id="R37eaa35a3bce486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773f389f9954914" /><Relationship Type="http://schemas.openxmlformats.org/officeDocument/2006/relationships/notesMaster" Target="/ppt/notesMasters/notesMaster1.xml" Id="R1ad1326b02424c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fd20bca021940a5" /><Relationship Type="http://schemas.openxmlformats.org/officeDocument/2006/relationships/notesMaster" Target="/ppt/notesMasters/notesMaster1.xml" Id="Red937825fc584d7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bfccdf3e7374e78" /><Relationship Type="http://schemas.openxmlformats.org/officeDocument/2006/relationships/notesMaster" Target="/ppt/notesMasters/notesMaster1.xml" Id="R54243df20c16432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b40547986504d0b" /><Relationship Type="http://schemas.openxmlformats.org/officeDocument/2006/relationships/notesMaster" Target="/ppt/notesMasters/notesMaster1.xml" Id="Rd1c6d73b15eb44b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5be0a429e3b458e" /><Relationship Type="http://schemas.openxmlformats.org/officeDocument/2006/relationships/notesMaster" Target="/ppt/notesMasters/notesMaster1.xml" Id="Re30d017e06764fb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1210825a45540f9" /><Relationship Type="http://schemas.openxmlformats.org/officeDocument/2006/relationships/notesMaster" Target="/ppt/notesMasters/notesMaster1.xml" Id="R3a6320d3ed62401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c3dc0fbd57446c7" /><Relationship Type="http://schemas.openxmlformats.org/officeDocument/2006/relationships/notesMaster" Target="/ppt/notesMasters/notesMaster1.xml" Id="Rcccd8d70a300483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ac3a5a31bd84d19" /><Relationship Type="http://schemas.openxmlformats.org/officeDocument/2006/relationships/notesMaster" Target="/ppt/notesMasters/notesMaster1.xml" Id="R568bc3ad955e416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4c1a1c583db44c0" /><Relationship Type="http://schemas.openxmlformats.org/officeDocument/2006/relationships/notesMaster" Target="/ppt/notesMasters/notesMaster1.xml" Id="Rfb6dcd2cd0c2467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d0cf707a44b434e" /><Relationship Type="http://schemas.openxmlformats.org/officeDocument/2006/relationships/notesMaster" Target="/ppt/notesMasters/notesMaster1.xml" Id="Rba4c62212975499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db684ea975549dd" /><Relationship Type="http://schemas.openxmlformats.org/officeDocument/2006/relationships/notesMaster" Target="/ppt/notesMasters/notesMaster1.xml" Id="Rc9e315e416c44ed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35a1a73e13f48c8" /><Relationship Type="http://schemas.openxmlformats.org/officeDocument/2006/relationships/notesMaster" Target="/ppt/notesMasters/notesMaster1.xml" Id="R26e5d912f0184c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CONTRIBUTORS.md</a:t>
            </a:r>
          </a:p>
          <a:p xmlns:a="http://schemas.openxmlformats.org/drawingml/2006/main">
            <a:r>
              <a:t>- final_project.ipynb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final_project.ipynb — Section 1: The problem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final_project.ipynb — data summary and stratified split outputs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final_project.ipynb — label distribution and missing-value analysis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final_project.ipynb — Graph 2: churn rate by contract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final_project.ipynb — Graph 3: tenure ECDF by churn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final_project.ipynb — Graph 4: monthly charges</a:t>
            </a:r>
          </a:p>
          <a:p xmlns:a="http://schemas.openxmlformats.org/drawingml/2006/main">
            <a:r>
              <a:t>- final_project.ipynb — Graph 5: internet service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final_project.ipynb — Graph 6: payment method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final_project.ipynb — Section 5: data engineering and feature ablation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final_project.ipynb — Section 6: evaluation design and baseline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final_project.ipynb — Section 7: K-nearest neighbors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final_project.ipynb — Section 8: decision-tree tuning and artifacts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final_project.ipynb — Section 9: random-forest search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final_project.ipynb — Section 10: final untouched-test evaluation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final_project.ipynb — random-forest impurity importance</a:t>
            </a:r>
          </a:p>
          <a:p xmlns:a="http://schemas.openxmlformats.org/drawingml/2006/main">
            <a:r>
              <a:t>- final_project.ipynb — permutation importance on the untouched test set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final_project.ipynb — Sections 10–13: evaluation, introspection, error analysis, conclusions</a:t>
            </a:r>
          </a:p>
          <a:p xmlns:a="http://schemas.openxmlformats.org/drawingml/2006/main">
            <a:r>
              <a:t>- All performance values and plots are reproduced from the executed notebook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af6e3ebb78443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35b311c4aac454a" /><Relationship Type="http://schemas.openxmlformats.org/officeDocument/2006/relationships/slideLayout" Target="/ppt/slideLayouts/slideLayout1.xml" Id="R5051b6bb93b849a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051b6bb93b849a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48731cbbef46f2" /><Relationship Type="http://schemas.openxmlformats.org/officeDocument/2006/relationships/notesSlide" Target="/ppt/notesSlides/notesSlide1.xml" Id="Rfdf73f41f4174d5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e090b722624884" /><Relationship Type="http://schemas.openxmlformats.org/officeDocument/2006/relationships/notesSlide" Target="/ppt/notesSlides/notesSlide2.xml" Id="Rb7d22b2522314e0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94a7b6ab6b415e" /><Relationship Type="http://schemas.openxmlformats.org/officeDocument/2006/relationships/notesSlide" Target="/ppt/notesSlides/notesSlide3.xml" Id="R374f27b5d75a48e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df59ceff264d7a" /><Relationship Type="http://schemas.openxmlformats.org/officeDocument/2006/relationships/image" Target="/ppt/media/image.png" Id="R1c96d55794bd4885" /><Relationship Type="http://schemas.openxmlformats.org/officeDocument/2006/relationships/notesSlide" Target="/ppt/notesSlides/notesSlide4.xml" Id="R825a0d275d6948e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790bf5adba480b" /><Relationship Type="http://schemas.openxmlformats.org/officeDocument/2006/relationships/image" Target="/ppt/media/image2.png" Id="Rbecedf4ff4d64401" /><Relationship Type="http://schemas.openxmlformats.org/officeDocument/2006/relationships/notesSlide" Target="/ppt/notesSlides/notesSlide5.xml" Id="Rfadb5f1760884b5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0522eee5844ff4" /><Relationship Type="http://schemas.openxmlformats.org/officeDocument/2006/relationships/image" Target="/ppt/media/image3.png" Id="R1eccb8c609da4886" /><Relationship Type="http://schemas.openxmlformats.org/officeDocument/2006/relationships/notesSlide" Target="/ppt/notesSlides/notesSlide6.xml" Id="Rd20958ab07de450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b270431b5d47c9" /><Relationship Type="http://schemas.openxmlformats.org/officeDocument/2006/relationships/image" Target="/ppt/media/image4.png" Id="Rffbb4f03f6ef4bb9" /><Relationship Type="http://schemas.openxmlformats.org/officeDocument/2006/relationships/image" Target="/ppt/media/image5.png" Id="Rb4e19b7e58b643f0" /><Relationship Type="http://schemas.openxmlformats.org/officeDocument/2006/relationships/notesSlide" Target="/ppt/notesSlides/notesSlide7.xml" Id="R3e7b93a56f86404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974ed4a18d4fdf" /><Relationship Type="http://schemas.openxmlformats.org/officeDocument/2006/relationships/image" Target="/ppt/media/image6.png" Id="R25c9a00edc754648" /><Relationship Type="http://schemas.openxmlformats.org/officeDocument/2006/relationships/notesSlide" Target="/ppt/notesSlides/notesSlide8.xml" Id="Re30a2c61575f4a8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cc068d479045f6" /><Relationship Type="http://schemas.openxmlformats.org/officeDocument/2006/relationships/image" Target="/ppt/media/image7.png" Id="R4875062801994412" /><Relationship Type="http://schemas.openxmlformats.org/officeDocument/2006/relationships/notesSlide" Target="/ppt/notesSlides/notesSlide9.xml" Id="R7256bb30370b421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effae4a05747e4" /><Relationship Type="http://schemas.openxmlformats.org/officeDocument/2006/relationships/notesSlide" Target="/ppt/notesSlides/notesSlide10.xml" Id="R235d2937284d4b4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86b268c9e54ab3" /><Relationship Type="http://schemas.openxmlformats.org/officeDocument/2006/relationships/image" Target="/ppt/media/image8.png" Id="R5002f8e72d5545c7" /><Relationship Type="http://schemas.openxmlformats.org/officeDocument/2006/relationships/notesSlide" Target="/ppt/notesSlides/notesSlide11.xml" Id="R335185c70787440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056f719c814b65" /><Relationship Type="http://schemas.openxmlformats.org/officeDocument/2006/relationships/image" Target="/ppt/media/image9.png" Id="R7090c8c203f34293" /><Relationship Type="http://schemas.openxmlformats.org/officeDocument/2006/relationships/image" Target="/ppt/media/image10.png" Id="R5f3d92952fc9420c" /><Relationship Type="http://schemas.openxmlformats.org/officeDocument/2006/relationships/notesSlide" Target="/ppt/notesSlides/notesSlide12.xml" Id="R6fd946e2b441437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60be3a8da340ec" /><Relationship Type="http://schemas.openxmlformats.org/officeDocument/2006/relationships/image" Target="/ppt/media/image11.png" Id="R6ee39d2b605b47a9" /><Relationship Type="http://schemas.openxmlformats.org/officeDocument/2006/relationships/notesSlide" Target="/ppt/notesSlides/notesSlide13.xml" Id="R9139132beb6e4dd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bccefe656f4cf7" /><Relationship Type="http://schemas.openxmlformats.org/officeDocument/2006/relationships/image" Target="/ppt/media/image12.png" Id="R7a12d2110f584580" /><Relationship Type="http://schemas.openxmlformats.org/officeDocument/2006/relationships/notesSlide" Target="/ppt/notesSlides/notesSlide14.xml" Id="R1cc087a1117443c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53d6359d244708" /><Relationship Type="http://schemas.openxmlformats.org/officeDocument/2006/relationships/image" Target="/ppt/media/image13.png" Id="Rbd5f7a33c2ba4549" /><Relationship Type="http://schemas.openxmlformats.org/officeDocument/2006/relationships/image" Target="/ppt/media/image14.png" Id="R5c1e47e9b28d4bbc" /><Relationship Type="http://schemas.openxmlformats.org/officeDocument/2006/relationships/notesSlide" Target="/ppt/notesSlides/notesSlide15.xml" Id="R5cf40b666a214b2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c20bdeb6cd48d8" /><Relationship Type="http://schemas.openxmlformats.org/officeDocument/2006/relationships/notesSlide" Target="/ppt/notesSlides/notesSlide16.xml" Id="R69ad9cbd5e814ce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kicker">
            <a:extLst xmlns:a="http://schemas.openxmlformats.org/drawingml/2006/main">
              <a:ext uri="{FF2B5EF4-FFF2-40B4-BE49-F238E27FC236}">
                <a16:creationId xmlns:a16="http://schemas.microsoft.com/office/drawing/2014/main" id="{F28F227B-36D2-4F3A-B3F8-2404FDE3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F46E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F46E5"/>
                </a:solidFill>
                <a:latin typeface="Arial"/>
                <a:ea typeface="Arial"/>
                <a:cs typeface="Arial"/>
              </a:rPr>
              <a:t>MACHINE LEARNING · FINAL PROJECT</a:t>
            </a:r>
          </a:p>
        </p:txBody>
      </p:sp>
      <p:sp>
        <p:nvSpPr>
          <p:cNvPr id="2" name="deck-title">
            <a:extLst xmlns:a="http://schemas.openxmlformats.org/drawingml/2006/main">
              <a:ext uri="{FF2B5EF4-FFF2-40B4-BE49-F238E27FC236}">
                <a16:creationId xmlns:a16="http://schemas.microsoft.com/office/drawing/2014/main" id="{C189C36E-0FBE-4909-AD11-A311CE020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8191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Customer Churn</a:t>
            </a:r>
          </a:p>
          <a:p xmlns:a="http://schemas.openxmlformats.org/drawingml/2006/main">
            <a:pPr algn="l">
              <a:defRPr sz="49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Prediction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C1A983-CA97-4C17-8DE9-2D8667599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0"/>
            <a:ext cx="4953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3F5E"/>
          </a:solidFill>
          <a:ln xmlns:a="http://schemas.openxmlformats.org/drawingml/2006/main" w="0">
            <a:solidFill>
              <a:srgbClr val="F43F5E"/>
            </a:solidFill>
            <a:prstDash val="solid"/>
          </a:ln>
        </p:spPr>
      </p:sp>
      <p:sp>
        <p:nvSpPr>
          <p:cNvPr id="4" name="team">
            <a:extLst xmlns:a="http://schemas.openxmlformats.org/drawingml/2006/main">
              <a:ext uri="{FF2B5EF4-FFF2-40B4-BE49-F238E27FC236}">
                <a16:creationId xmlns:a16="http://schemas.microsoft.com/office/drawing/2014/main" id="{E5958D3A-D525-494D-BD3E-4E4896D2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14850"/>
            <a:ext cx="61912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Sapir Pirski</a:t>
            </a:r>
          </a:p>
          <a:p xmlns:a="http://schemas.openxmlformats.org/drawingml/2006/main">
            <a:pPr algn="l">
              <a:defRPr sz="17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Contributor 2</a:t>
            </a:r>
          </a:p>
          <a:p xmlns:a="http://schemas.openxmlformats.org/drawingml/2006/main">
            <a:pPr algn="l">
              <a:defRPr sz="17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Contributor 3</a:t>
            </a:r>
          </a:p>
        </p:txBody>
      </p:sp>
      <p:sp>
        <p:nvSpPr>
          <p:cNvPr id="5" name="project-highlights">
            <a:extLst xmlns:a="http://schemas.openxmlformats.org/drawingml/2006/main">
              <a:ext uri="{FF2B5EF4-FFF2-40B4-BE49-F238E27FC236}">
                <a16:creationId xmlns:a16="http://schemas.microsoft.com/office/drawing/2014/main" id="{46217732-90F7-4546-8D2C-4DEF9D2D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505450"/>
            <a:ext cx="50196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7,043 customers · 19 predictive features</a:t>
            </a:r>
          </a:p>
          <a:p xmlns:a="http://schemas.openxmlformats.org/drawingml/2006/main">
            <a:pPr algn="r">
              <a:defRPr sz="12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3 ML algorithms · 80.70% best test accuracy</a:t>
            </a:r>
          </a:p>
        </p:txBody>
      </p:sp>
    </p:spTree>
    <p:extLst>
      <p:ext uri="{BB962C8B-B14F-4D97-AF65-F5344CB8AC3E}">
        <p14:creationId xmlns:p14="http://schemas.microsoft.com/office/powerpoint/2010/main" val="19733791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519947F-AAF4-4DEA-B857-621703D7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0839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The task is to identify customers at risk of leaving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899BB7-772E-43CC-8CAC-842B4495A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3" name="slide-number-2">
            <a:extLst xmlns:a="http://schemas.openxmlformats.org/drawingml/2006/main">
              <a:ext uri="{FF2B5EF4-FFF2-40B4-BE49-F238E27FC236}">
                <a16:creationId xmlns:a16="http://schemas.microsoft.com/office/drawing/2014/main" id="{3FF131CE-52FF-4EDF-B898-5F774E929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81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EBE3F23-3A9D-41B2-9109-582776378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240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3F5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43F5E"/>
                </a:solidFill>
                <a:latin typeface="Arial"/>
                <a:ea typeface="Arial"/>
                <a:cs typeface="Arial"/>
              </a:rPr>
              <a:t>PREDICT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0DE52BF-3751-4562-ABC2-C5618D5C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2200"/>
            <a:ext cx="32385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Churn</a:t>
            </a:r>
          </a:p>
          <a:p xmlns:a="http://schemas.openxmlformats.org/drawingml/2006/main">
            <a:pPr algn="l">
              <a:defRPr sz="33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Yes or No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0759AAF-120B-4248-85D6-F945C9FD6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240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F46E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F46E5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7" name="bullets">
            <a:extLst xmlns:a="http://schemas.openxmlformats.org/drawingml/2006/main">
              <a:ext uri="{FF2B5EF4-FFF2-40B4-BE49-F238E27FC236}">
                <a16:creationId xmlns:a16="http://schemas.microsoft.com/office/drawing/2014/main" id="{36AC4D0F-EF3C-49D8-A4D8-FFBE9755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43150"/>
            <a:ext cx="6572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•  Demographics and tenure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•  Subscribed services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•  Contract and billing choices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•  Monthly and total charges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225C6A-58E8-45F5-B93C-8EF3903ED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36E65AD8-915F-4AB7-84B3-EEA9A9056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0"/>
            <a:ext cx="1038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Application: prioritize retention contact and investigate service patterns. The model estimates risk; it does not prove why a customer leaves.</a:t>
            </a:r>
          </a:p>
        </p:txBody>
      </p:sp>
    </p:spTree>
    <p:extLst>
      <p:ext uri="{BB962C8B-B14F-4D97-AF65-F5344CB8AC3E}">
        <p14:creationId xmlns:p14="http://schemas.microsoft.com/office/powerpoint/2010/main" val="16366811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E0007BB-7036-4534-AB1A-862175DA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0839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Dataset: 7,043 customers split reproducibly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E9858D-89A1-4733-B2A0-F2B6D8D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3" name="slide-number-3">
            <a:extLst xmlns:a="http://schemas.openxmlformats.org/drawingml/2006/main">
              <a:ext uri="{FF2B5EF4-FFF2-40B4-BE49-F238E27FC236}">
                <a16:creationId xmlns:a16="http://schemas.microsoft.com/office/drawing/2014/main" id="{8D67D6BA-DA9E-46ED-A703-92E0F948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81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51B8866-4C24-4633-99DF-9B717D065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383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The source has 20 inputs and one binary target. A stratified split preserves the 26.54% churn rate in both subsets.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F8CECA-4BB6-4716-8E5F-3BA7FBFA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57525"/>
            <a:ext cx="3143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4F46E5"/>
            </a:solidFill>
            <a:prstDash val="solid"/>
          </a:ln>
        </p:spPr>
      </p:sp>
      <p:sp>
        <p:nvSpPr>
          <p:cNvPr id="6" name="metric-customers">
            <a:extLst xmlns:a="http://schemas.openxmlformats.org/drawingml/2006/main">
              <a:ext uri="{FF2B5EF4-FFF2-40B4-BE49-F238E27FC236}">
                <a16:creationId xmlns:a16="http://schemas.microsoft.com/office/drawing/2014/main" id="{7B4E48D6-765B-4C24-9DE2-4C305477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375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7,043</a:t>
            </a:r>
          </a:p>
        </p:txBody>
      </p:sp>
      <p:sp>
        <p:nvSpPr>
          <p:cNvPr id="7" name="metric-label-customers">
            <a:extLst xmlns:a="http://schemas.openxmlformats.org/drawingml/2006/main">
              <a:ext uri="{FF2B5EF4-FFF2-40B4-BE49-F238E27FC236}">
                <a16:creationId xmlns:a16="http://schemas.microsoft.com/office/drawing/2014/main" id="{D6780B7A-A7D8-4DB2-8AA2-58E5ABFB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05300"/>
            <a:ext cx="314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customers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9E592C-C4CE-4F41-B729-E9FE0BA7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57525"/>
            <a:ext cx="3143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solidFill>
              <a:srgbClr val="14B8A6"/>
            </a:solidFill>
            <a:prstDash val="solid"/>
          </a:ln>
        </p:spPr>
      </p:sp>
      <p:sp>
        <p:nvSpPr>
          <p:cNvPr id="9" name="metric-training examples">
            <a:extLst xmlns:a="http://schemas.openxmlformats.org/drawingml/2006/main">
              <a:ext uri="{FF2B5EF4-FFF2-40B4-BE49-F238E27FC236}">
                <a16:creationId xmlns:a16="http://schemas.microsoft.com/office/drawing/2014/main" id="{5DDCF55A-BBF5-4791-A34F-96F52695A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3375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5,634</a:t>
            </a:r>
          </a:p>
        </p:txBody>
      </p:sp>
      <p:sp>
        <p:nvSpPr>
          <p:cNvPr id="10" name="metric-label-training examples">
            <a:extLst xmlns:a="http://schemas.openxmlformats.org/drawingml/2006/main">
              <a:ext uri="{FF2B5EF4-FFF2-40B4-BE49-F238E27FC236}">
                <a16:creationId xmlns:a16="http://schemas.microsoft.com/office/drawing/2014/main" id="{477E2709-D62A-4525-926C-B37B6B7B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05300"/>
            <a:ext cx="314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training examples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2117BE-CC8D-49A6-BAC0-5B20A22DC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57525"/>
            <a:ext cx="3143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3F5E"/>
          </a:solidFill>
          <a:ln xmlns:a="http://schemas.openxmlformats.org/drawingml/2006/main" w="0">
            <a:solidFill>
              <a:srgbClr val="F43F5E"/>
            </a:solidFill>
            <a:prstDash val="solid"/>
          </a:ln>
        </p:spPr>
      </p:sp>
      <p:sp>
        <p:nvSpPr>
          <p:cNvPr id="12" name="metric-test examples">
            <a:extLst xmlns:a="http://schemas.openxmlformats.org/drawingml/2006/main">
              <a:ext uri="{FF2B5EF4-FFF2-40B4-BE49-F238E27FC236}">
                <a16:creationId xmlns:a16="http://schemas.microsoft.com/office/drawing/2014/main" id="{8880ACD3-5D92-4343-B536-B6F8F7E7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3375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1,409</a:t>
            </a:r>
          </a:p>
        </p:txBody>
      </p:sp>
      <p:sp>
        <p:nvSpPr>
          <p:cNvPr id="13" name="metric-label-test examples">
            <a:extLst xmlns:a="http://schemas.openxmlformats.org/drawingml/2006/main">
              <a:ext uri="{FF2B5EF4-FFF2-40B4-BE49-F238E27FC236}">
                <a16:creationId xmlns:a16="http://schemas.microsoft.com/office/drawing/2014/main" id="{8787D72D-11C5-4E6F-ADAD-ACC02926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305300"/>
            <a:ext cx="314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test examples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C39AF5B6-102B-4E95-810E-B9C6BBACF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1975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20 original input features</a:t>
            </a:r>
          </a:p>
        </p:txBody>
      </p:sp>
    </p:spTree>
    <p:extLst>
      <p:ext uri="{BB962C8B-B14F-4D97-AF65-F5344CB8AC3E}">
        <p14:creationId xmlns:p14="http://schemas.microsoft.com/office/powerpoint/2010/main" val="10282025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CFD2B9C-A64D-49C8-B6CA-FA02EE64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0839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Churn is the minority class, and blanks require a semantic fix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D0450B-42F6-460A-9452-933B0574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3" name="slide-number-4">
            <a:extLst xmlns:a="http://schemas.openxmlformats.org/drawingml/2006/main">
              <a:ext uri="{FF2B5EF4-FFF2-40B4-BE49-F238E27FC236}">
                <a16:creationId xmlns:a16="http://schemas.microsoft.com/office/drawing/2014/main" id="{5D256B7B-C50E-4ECB-8596-0F2DF6D1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81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96d55794bd4885"/>
          <a:stretch xmlns:a="http://schemas.openxmlformats.org/drawingml/2006/main"/>
        </p:blipFill>
        <p:spPr>
          <a:xfrm xmlns:a="http://schemas.openxmlformats.org/drawingml/2006/main">
            <a:off x="457200" y="1886688"/>
            <a:ext cx="6953250" cy="1941624"/>
          </a:xfrm>
          <a:prstGeom xmlns:a="http://schemas.openxmlformats.org/drawingml/2006/main" prst="rect">
            <a:avLst/>
          </a:prstGeom>
        </p:spPr>
      </p:pic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E715A23-D8F5-4FE4-B0CE-4F284E252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2405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3F5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43F5E"/>
                </a:solidFill>
                <a:latin typeface="Arial"/>
                <a:ea typeface="Arial"/>
                <a:cs typeface="Arial"/>
              </a:rPr>
              <a:t>11 blank values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C16F5BB-2741-45D3-BC0C-A9BE74405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143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TotalCharges contains blank strings rather than standard nulls. Every affected customer has zero tenure, so the value is set to zero.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E9765DF-5BAE-4A38-BCB1-B0BD22BD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62500"/>
            <a:ext cx="695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The 73.46% retained share defines the majority-class accuracy baseline.</a:t>
            </a:r>
          </a:p>
        </p:txBody>
      </p:sp>
    </p:spTree>
    <p:extLst>
      <p:ext uri="{BB962C8B-B14F-4D97-AF65-F5344CB8AC3E}">
        <p14:creationId xmlns:p14="http://schemas.microsoft.com/office/powerpoint/2010/main" val="16701758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C7FBE2-72E0-4F76-A465-5ACC64F80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0839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Month-to-month contracts have the highest observed churn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A94435-2F28-48A1-81BC-7B921B50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3" name="slide-number-5">
            <a:extLst xmlns:a="http://schemas.openxmlformats.org/drawingml/2006/main">
              <a:ext uri="{FF2B5EF4-FFF2-40B4-BE49-F238E27FC236}">
                <a16:creationId xmlns:a16="http://schemas.microsoft.com/office/drawing/2014/main" id="{3CB40A87-977E-4484-9F62-89CDE1EE7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81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cedf4ff4d64401"/>
          <a:stretch xmlns:a="http://schemas.openxmlformats.org/drawingml/2006/main"/>
        </p:blipFill>
        <p:spPr>
          <a:xfrm xmlns:a="http://schemas.openxmlformats.org/drawingml/2006/main">
            <a:off x="457200" y="1982325"/>
            <a:ext cx="8096250" cy="3274351"/>
          </a:xfrm>
          <a:prstGeom xmlns:a="http://schemas.openxmlformats.org/drawingml/2006/main" prst="rect">
            <a:avLst/>
          </a:prstGeom>
        </p:spPr>
      </p:pic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493FB06-B97C-4C5E-9CB6-87184243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90750"/>
            <a:ext cx="2333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43F5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43F5E"/>
                </a:solidFill>
                <a:latin typeface="Arial"/>
                <a:ea typeface="Arial"/>
                <a:cs typeface="Arial"/>
              </a:rPr>
              <a:t>42.7%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D24EC3D-126D-498B-8407-7B0A8C00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00375"/>
            <a:ext cx="2333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month-to-month</a:t>
            </a:r>
          </a:p>
          <a:p xmlns:a="http://schemas.openxmlformats.org/drawingml/2006/main">
            <a:pPr algn="l">
              <a:defRPr sz="17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churn rate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606EF17-6098-4DCB-997F-237814EF3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62500"/>
            <a:ext cx="2333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83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Association ≠ causation</a:t>
            </a:r>
          </a:p>
        </p:txBody>
      </p:sp>
    </p:spTree>
    <p:extLst>
      <p:ext uri="{BB962C8B-B14F-4D97-AF65-F5344CB8AC3E}">
        <p14:creationId xmlns:p14="http://schemas.microsoft.com/office/powerpoint/2010/main" val="12705559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99CBC1E-7EB1-42ED-9DE2-DBC14963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0839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Churn concentrates among newer customers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F07AF6-6DB6-4158-B2A7-57A76D3B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3" name="slide-number-6">
            <a:extLst xmlns:a="http://schemas.openxmlformats.org/drawingml/2006/main">
              <a:ext uri="{FF2B5EF4-FFF2-40B4-BE49-F238E27FC236}">
                <a16:creationId xmlns:a16="http://schemas.microsoft.com/office/drawing/2014/main" id="{C1566109-6B51-48AF-A588-7A8685DE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81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ccb8c609da4886"/>
          <a:stretch xmlns:a="http://schemas.openxmlformats.org/drawingml/2006/main"/>
        </p:blipFill>
        <p:spPr>
          <a:xfrm xmlns:a="http://schemas.openxmlformats.org/drawingml/2006/main">
            <a:off x="457200" y="1881271"/>
            <a:ext cx="7620000" cy="3743158"/>
          </a:xfrm>
          <a:prstGeom xmlns:a="http://schemas.openxmlformats.org/drawingml/2006/main" prst="rect">
            <a:avLst/>
          </a:prstGeom>
        </p:spPr>
      </p:pic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F90377F-EAFD-48D2-A2AF-31AAD775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0025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4F46E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4F46E5"/>
                </a:solidFill>
                <a:latin typeface="Arial"/>
                <a:ea typeface="Arial"/>
                <a:cs typeface="Arial"/>
              </a:rPr>
              <a:t>Why ECDF?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80EF85D-1E23-44FE-98F6-2DD2666C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590800"/>
            <a:ext cx="2571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It shows the full cumulative distribution without choosing arbitrary histogram bins.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B0486E4-CE56-49FD-95E0-B80FB8D4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148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3F5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43F5E"/>
                </a:solidFill>
                <a:latin typeface="Arial"/>
                <a:ea typeface="Arial"/>
                <a:cs typeface="Arial"/>
              </a:rPr>
              <a:t>Implication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D6A6529-B963-4637-BAD4-D84554071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991100"/>
            <a:ext cx="2571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Early-lifecycle experience is an important predictive signal.</a:t>
            </a:r>
          </a:p>
        </p:txBody>
      </p:sp>
    </p:spTree>
    <p:extLst>
      <p:ext uri="{BB962C8B-B14F-4D97-AF65-F5344CB8AC3E}">
        <p14:creationId xmlns:p14="http://schemas.microsoft.com/office/powerpoint/2010/main" val="1535998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6B5EB96-469A-4509-9765-AE12FE25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0839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Charges and service type add predictive signal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27B563-7D20-49BD-8D3A-8705EE05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3" name="slide-number-7">
            <a:extLst xmlns:a="http://schemas.openxmlformats.org/drawingml/2006/main">
              <a:ext uri="{FF2B5EF4-FFF2-40B4-BE49-F238E27FC236}">
                <a16:creationId xmlns:a16="http://schemas.microsoft.com/office/drawing/2014/main" id="{E25030F1-1049-4F63-88B2-7905CE499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81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bb4f03f6ef4bb9"/>
          <a:stretch xmlns:a="http://schemas.openxmlformats.org/drawingml/2006/main"/>
        </p:blipFill>
        <p:spPr>
          <a:xfrm xmlns:a="http://schemas.openxmlformats.org/drawingml/2006/main">
            <a:off x="457200" y="2261770"/>
            <a:ext cx="5334000" cy="2620211"/>
          </a:xfrm>
          <a:prstGeom xmlns:a="http://schemas.openxmlformats.org/drawingml/2006/main" prst="rect">
            <a:avLst/>
          </a:prstGeom>
        </p:spPr>
      </p:pic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e19b7e58b643f0"/>
          <a:stretch xmlns:a="http://schemas.openxmlformats.org/drawingml/2006/main"/>
        </p:blipFill>
        <p:spPr>
          <a:xfrm xmlns:a="http://schemas.openxmlformats.org/drawingml/2006/main">
            <a:off x="6191250" y="2498020"/>
            <a:ext cx="5334000" cy="2147709"/>
          </a:xfrm>
          <a:prstGeom xmlns:a="http://schemas.openxmlformats.org/drawingml/2006/main" prst="rect">
            <a:avLst/>
          </a:prstGeom>
        </p:spPr>
      </p:pic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3B804C5-7A0B-47AF-8A11-234A6A8C3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72150"/>
            <a:ext cx="533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Churned customers have a higher median monthly charge.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14F53FF3-C234-4E55-B07A-9480C6F6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772150"/>
            <a:ext cx="533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Fiber-optic customers show the highest observed churn.</a:t>
            </a:r>
          </a:p>
        </p:txBody>
      </p:sp>
    </p:spTree>
    <p:extLst>
      <p:ext uri="{BB962C8B-B14F-4D97-AF65-F5344CB8AC3E}">
        <p14:creationId xmlns:p14="http://schemas.microsoft.com/office/powerpoint/2010/main" val="2053984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EB88481-F200-4A10-84E1-38A64C38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0839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843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Electronic-check customers show the highest payment-group churn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B6F044-8A86-40C2-B9D8-722B94C7E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3" name="slide-number-8">
            <a:extLst xmlns:a="http://schemas.openxmlformats.org/drawingml/2006/main">
              <a:ext uri="{FF2B5EF4-FFF2-40B4-BE49-F238E27FC236}">
                <a16:creationId xmlns:a16="http://schemas.microsoft.com/office/drawing/2014/main" id="{5B800C04-1CAA-419C-8C59-94E6251BA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81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c9a00edc754648"/>
          <a:stretch xmlns:a="http://schemas.openxmlformats.org/drawingml/2006/main"/>
        </p:blipFill>
        <p:spPr>
          <a:xfrm xmlns:a="http://schemas.openxmlformats.org/drawingml/2006/main">
            <a:off x="457200" y="1839226"/>
            <a:ext cx="8001000" cy="3846299"/>
          </a:xfrm>
          <a:prstGeom xmlns:a="http://schemas.openxmlformats.org/drawingml/2006/main" prst="rect">
            <a:avLst/>
          </a:prstGeom>
        </p:spPr>
      </p:pic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662146C-E9B9-46AC-8898-0AF55F70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43F5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43F5E"/>
                </a:solidFill>
                <a:latin typeface="Arial"/>
                <a:ea typeface="Arial"/>
                <a:cs typeface="Arial"/>
              </a:rPr>
              <a:t>Interpret carefully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F3A53CD-8F76-4A02-AE4C-A9A035CCE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24150"/>
            <a:ext cx="238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Payment method may reflect convenience, contract structure, or engagement. This chart does not establish a direct causal effect.</a:t>
            </a:r>
          </a:p>
        </p:txBody>
      </p:sp>
    </p:spTree>
    <p:extLst>
      <p:ext uri="{BB962C8B-B14F-4D97-AF65-F5344CB8AC3E}">
        <p14:creationId xmlns:p14="http://schemas.microsoft.com/office/powerpoint/2010/main" val="19370733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D6D5C86-B208-4F0B-9441-8766973F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0839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Engineered features did not improve 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421A84-56A0-4DB1-A289-62542C5E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3" name="slide-number-9">
            <a:extLst xmlns:a="http://schemas.openxmlformats.org/drawingml/2006/main">
              <a:ext uri="{FF2B5EF4-FFF2-40B4-BE49-F238E27FC236}">
                <a16:creationId xmlns:a16="http://schemas.microsoft.com/office/drawing/2014/main" id="{45BC9BA6-80EC-4217-BBEA-E51774A8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81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75062801994412"/>
          <a:stretch xmlns:a="http://schemas.openxmlformats.org/drawingml/2006/main"/>
        </p:blipFill>
        <p:spPr>
          <a:xfrm xmlns:a="http://schemas.openxmlformats.org/drawingml/2006/main">
            <a:off x="457200" y="2324313"/>
            <a:ext cx="6191250" cy="2609425"/>
          </a:xfrm>
          <a:prstGeom xmlns:a="http://schemas.openxmlformats.org/drawingml/2006/main" prst="rect">
            <a:avLst/>
          </a:prstGeom>
        </p:spPr>
      </p:pic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B38005B-E98F-4B9C-BC7E-2563F946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3355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3F5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43F5E"/>
                </a:solidFill>
                <a:latin typeface="Arial"/>
                <a:ea typeface="Arial"/>
                <a:cs typeface="Arial"/>
              </a:rPr>
              <a:t>Removed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1C844C4-CBD8-4549-891D-E1BD9096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90750"/>
            <a:ext cx="390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customerID — unique identifiers do not generalize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9500D0B-07A0-4743-B6C3-8F08ADB6C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4F46E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4F46E5"/>
                </a:solidFill>
                <a:latin typeface="Arial"/>
                <a:ea typeface="Arial"/>
                <a:cs typeface="Arial"/>
              </a:rPr>
              <a:t>Tested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76C7539-682F-49E4-B7F3-0EFBACD55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60045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Lifecycle, grouped service counts, automatic payment, and interaction features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86BAB52-7467-40F5-842F-49EB23FA4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5775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4706803-0A30-43F9-B79E-D7E2DB4F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14950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Keep the original 19 predictive features: they validate best.</a:t>
            </a:r>
          </a:p>
        </p:txBody>
      </p:sp>
    </p:spTree>
    <p:extLst>
      <p:ext uri="{BB962C8B-B14F-4D97-AF65-F5344CB8AC3E}">
        <p14:creationId xmlns:p14="http://schemas.microsoft.com/office/powerpoint/2010/main" val="12183978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7EDBEE1-897A-44C8-8853-4F7B0B36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0839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A training-only selection process protects the final test result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52FA58-AFAC-4A38-BCEF-70C9D730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3" name="slide-number-10">
            <a:extLst xmlns:a="http://schemas.openxmlformats.org/drawingml/2006/main">
              <a:ext uri="{FF2B5EF4-FFF2-40B4-BE49-F238E27FC236}">
                <a16:creationId xmlns:a16="http://schemas.microsoft.com/office/drawing/2014/main" id="{14121A6C-2C66-47F3-B189-932E96D7D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81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7E692305-14CD-4334-9A58-8D2224C0A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4F46E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4F46E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A161B5-24A7-4B2F-AD40-F641D7C2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813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9E256FD-21D9-4865-B880-B7455F871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Stratified split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127253D1-8D60-4516-95B4-DBE4F553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0"/>
            <a:ext cx="2190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80% train · 20% test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2EDEB08-D2EE-4EC7-81CF-C86181564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47875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4F46E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4F46E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849759-8DB3-43B5-A667-FF24E64D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813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73636EF8-BEB1-4EC3-910F-4725FA544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4800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304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Pipeline preprocessing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0C71C48C-689D-491D-B996-9BFE85E4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10000"/>
            <a:ext cx="2190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Fit within each fold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783C8FA5-7536-453E-AA5A-E4FDE572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47875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4F46E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4F46E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9E4A84-413C-4583-9DBC-6F793281A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813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80280AD0-7DBF-44EF-8203-D9372AEC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4800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Five-fold CV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905C94C8-270A-414C-A0B1-E1A0BA39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10000"/>
            <a:ext cx="2190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Choose features and parameters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B539DDBB-C78C-408D-BC6D-D53102A2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047875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43F5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43F5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B978C0-EE5E-45CE-8326-E43B4DF37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813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3F5E"/>
          </a:solidFill>
          <a:ln xmlns:a="http://schemas.openxmlformats.org/drawingml/2006/main" w="0">
            <a:solidFill>
              <a:srgbClr val="F43F5E"/>
            </a:solidFill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DB9CB741-5A1A-4543-B1A8-1886776F2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4800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Final evaluation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55E806F7-778A-4CFD-A2BB-B7AAC9FC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10000"/>
            <a:ext cx="2190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Use untouched test once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D1438718-BD2B-4D44-8C59-2ED0F2E49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6260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Primary selection metric: accuracy · Supporting diagnostics: recall, precision, F1, balanced accuracy, ROC-AUC, PR-AUC and MCC</a:t>
            </a:r>
          </a:p>
        </p:txBody>
      </p:sp>
    </p:spTree>
    <p:extLst>
      <p:ext uri="{BB962C8B-B14F-4D97-AF65-F5344CB8AC3E}">
        <p14:creationId xmlns:p14="http://schemas.microsoft.com/office/powerpoint/2010/main" val="18054867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42D67C6-1F97-4C86-B34B-049593A39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0839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KNN is strongest at k=31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29E26E-2FF5-4F30-A21F-9B4E467D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3" name="slide-number-11">
            <a:extLst xmlns:a="http://schemas.openxmlformats.org/drawingml/2006/main">
              <a:ext uri="{FF2B5EF4-FFF2-40B4-BE49-F238E27FC236}">
                <a16:creationId xmlns:a16="http://schemas.microsoft.com/office/drawing/2014/main" id="{489836DA-7863-4E38-836C-A5D451406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81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02f8e72d5545c7"/>
          <a:stretch xmlns:a="http://schemas.openxmlformats.org/drawingml/2006/main"/>
        </p:blipFill>
        <p:spPr>
          <a:xfrm xmlns:a="http://schemas.openxmlformats.org/drawingml/2006/main">
            <a:off x="457200" y="2098146"/>
            <a:ext cx="7239000" cy="3328458"/>
          </a:xfrm>
          <a:prstGeom xmlns:a="http://schemas.openxmlformats.org/drawingml/2006/main" prst="rect">
            <a:avLst/>
          </a:prstGeom>
        </p:spPr>
      </p:pic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4D31C68-3396-4D4B-93CB-4CC38A69F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097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4F46E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F46E5"/>
                </a:solidFill>
                <a:latin typeface="Arial"/>
                <a:ea typeface="Arial"/>
                <a:cs typeface="Arial"/>
              </a:rPr>
              <a:t>Search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D15358B-2DF0-4134-9FAB-B7F3D1E1F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k = 5, 11, 21, 31</a:t>
            </a:r>
          </a:p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uniform / distance</a:t>
            </a:r>
          </a:p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Manhattan / Euclidean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38CC6CB-1B9C-4C75-957D-EC1AE2895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862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Best CV accuracy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B8C63B7-D658-4D32-A2D0-50823D47B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86300"/>
            <a:ext cx="266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79.45%</a:t>
            </a:r>
          </a:p>
        </p:txBody>
      </p:sp>
    </p:spTree>
    <p:extLst>
      <p:ext uri="{BB962C8B-B14F-4D97-AF65-F5344CB8AC3E}">
        <p14:creationId xmlns:p14="http://schemas.microsoft.com/office/powerpoint/2010/main" val="18933768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0068BEA-5195-4315-8788-E4340CBE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0839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514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Tree depth exposes the trade-off between readability and overfitting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88B153-F578-4275-B51C-ED4AA7BD8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3" name="slide-number-12">
            <a:extLst xmlns:a="http://schemas.openxmlformats.org/drawingml/2006/main">
              <a:ext uri="{FF2B5EF4-FFF2-40B4-BE49-F238E27FC236}">
                <a16:creationId xmlns:a16="http://schemas.microsoft.com/office/drawing/2014/main" id="{33511F62-279B-40FE-A0DB-50E0C05E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81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90c8c203f34293"/>
          <a:stretch xmlns:a="http://schemas.openxmlformats.org/drawingml/2006/main"/>
        </p:blipFill>
        <p:spPr>
          <a:xfrm xmlns:a="http://schemas.openxmlformats.org/drawingml/2006/main">
            <a:off x="457200" y="2238375"/>
            <a:ext cx="5429250" cy="2667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3d92952fc9420c"/>
          <a:stretch xmlns:a="http://schemas.openxmlformats.org/drawingml/2006/main"/>
        </p:blipFill>
        <p:spPr>
          <a:xfrm xmlns:a="http://schemas.openxmlformats.org/drawingml/2006/main">
            <a:off x="6810375" y="1524000"/>
            <a:ext cx="4095750" cy="4095750"/>
          </a:xfrm>
          <a:prstGeom xmlns:a="http://schemas.openxmlformats.org/drawingml/2006/main" prst="rect">
            <a:avLst/>
          </a:prstGeom>
        </p:spPr>
      </p:pic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9DCFBB7-4022-43DE-B843-5C3CACF3D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Selected: entropy · max_depth=5 · min_samples_leaf=5</a:t>
            </a:r>
          </a:p>
        </p:txBody>
      </p:sp>
    </p:spTree>
    <p:extLst>
      <p:ext uri="{BB962C8B-B14F-4D97-AF65-F5344CB8AC3E}">
        <p14:creationId xmlns:p14="http://schemas.microsoft.com/office/powerpoint/2010/main" val="144513188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A53927-A6C3-4E40-9685-543FF25B7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0839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A depth-8 forest performs best in 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5AB995-1AC1-4FA6-986F-2197BBC38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3" name="slide-number-13">
            <a:extLst xmlns:a="http://schemas.openxmlformats.org/drawingml/2006/main">
              <a:ext uri="{FF2B5EF4-FFF2-40B4-BE49-F238E27FC236}">
                <a16:creationId xmlns:a16="http://schemas.microsoft.com/office/drawing/2014/main" id="{544137FE-8991-40E8-8FAF-7A97F3D5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81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e39d2b605b47a9"/>
          <a:stretch xmlns:a="http://schemas.openxmlformats.org/drawingml/2006/main"/>
        </p:blipFill>
        <p:spPr>
          <a:xfrm xmlns:a="http://schemas.openxmlformats.org/drawingml/2006/main">
            <a:off x="457200" y="1663881"/>
            <a:ext cx="7334250" cy="4196987"/>
          </a:xfrm>
          <a:prstGeom xmlns:a="http://schemas.openxmlformats.org/drawingml/2006/main" prst="rect">
            <a:avLst/>
          </a:prstGeom>
        </p:spPr>
      </p:pic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365C0D7-A657-4EE1-AA8C-36853577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526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F46E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F46E5"/>
                </a:solidFill>
                <a:latin typeface="Arial"/>
                <a:ea typeface="Arial"/>
                <a:cs typeface="Arial"/>
              </a:rPr>
              <a:t>Best configuration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E7A91BE-F02B-4B3F-B327-4739761A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857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200 estimators</a:t>
            </a:r>
          </a:p>
          <a:p xmlns:a="http://schemas.openxmlformats.org/drawingml/2006/main">
            <a:pPr algn="l">
              <a:defRPr sz="180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max_depth = 8</a:t>
            </a:r>
          </a:p>
          <a:p xmlns:a="http://schemas.openxmlformats.org/drawingml/2006/main">
            <a:pPr algn="l">
              <a:defRPr sz="180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max_features = sqrt</a:t>
            </a:r>
          </a:p>
          <a:p xmlns:a="http://schemas.openxmlformats.org/drawingml/2006/main">
            <a:pPr algn="l">
              <a:defRPr sz="180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min_samples_leaf = 1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8B904D9A-CCD7-40E5-A8A4-CF29BD975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530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Mean CV accuracy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4549882-B3C4-4619-A1D6-97C672F1F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3530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80.42%</a:t>
            </a:r>
          </a:p>
        </p:txBody>
      </p:sp>
    </p:spTree>
    <p:extLst>
      <p:ext uri="{BB962C8B-B14F-4D97-AF65-F5344CB8AC3E}">
        <p14:creationId xmlns:p14="http://schemas.microsoft.com/office/powerpoint/2010/main" val="79494371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30078A6-3F34-45A2-BC94-868B57A1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0839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Random forest achieves the best untouched-test accuracy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66F38D-8C4E-4F0C-BD27-7F27255BD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3" name="slide-number-14">
            <a:extLst xmlns:a="http://schemas.openxmlformats.org/drawingml/2006/main">
              <a:ext uri="{FF2B5EF4-FFF2-40B4-BE49-F238E27FC236}">
                <a16:creationId xmlns:a16="http://schemas.microsoft.com/office/drawing/2014/main" id="{C4EC0EFB-E3C2-411F-B689-ABB37646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81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12d2110f584580"/>
          <a:stretch xmlns:a="http://schemas.openxmlformats.org/drawingml/2006/main"/>
        </p:blipFill>
        <p:spPr>
          <a:xfrm xmlns:a="http://schemas.openxmlformats.org/drawingml/2006/main">
            <a:off x="457200" y="1767138"/>
            <a:ext cx="6858000" cy="351422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D25709-47AA-4498-AC9B-7D8C3E0B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09750"/>
            <a:ext cx="3619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2B0A326-DE71-4630-AC25-D2F49C3A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9812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52E4119-C7D7-4EF0-89FC-8A19EEBF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981200"/>
            <a:ext cx="819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Train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98BA9D3-58E6-41C4-B1F9-EC751DBF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981200"/>
            <a:ext cx="80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9811BE-7DD4-4A55-B23B-3EC39858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95550"/>
            <a:ext cx="3619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A61D30E-2F8D-42E1-9224-D56D1BF08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670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KNN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6FC3F38A-DF67-486E-B7EB-8CFF5137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667000"/>
            <a:ext cx="819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80.85%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20B27001-076D-4BA3-8E7E-9CB94B75C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0"/>
            <a:ext cx="80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78.42%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B4089B-B499-4343-8E5A-9B33B6461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81350"/>
            <a:ext cx="3619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718BC1D0-A91A-455F-A58A-821EB3CB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3528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Decision tree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5591D311-5172-4047-9C48-064EBC14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352800"/>
            <a:ext cx="819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80.28%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01B22EA8-85FB-4499-AEA9-7239335A8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352800"/>
            <a:ext cx="80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79.84%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A2260B-369D-4A68-A1ED-9E83C4251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67150"/>
            <a:ext cx="3619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8F87D71F-46E2-4877-9C3F-5ACD8C9FF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0386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Random forest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3CB9FF0D-2485-420E-98D0-D98EE4D5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038600"/>
            <a:ext cx="819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83.48%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CBE39257-6F80-4B5F-BBD5-79165E2C3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038600"/>
            <a:ext cx="80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80.70%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D80F56BF-E68D-40FC-9547-2BC60B357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53000"/>
            <a:ext cx="3619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3F5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43F5E"/>
                </a:solidFill>
                <a:latin typeface="Arial"/>
                <a:ea typeface="Arial"/>
                <a:cs typeface="Arial"/>
              </a:rPr>
              <a:t>Accuracy is strongest, but churn recall is 51.07%.</a:t>
            </a:r>
          </a:p>
        </p:txBody>
      </p:sp>
    </p:spTree>
    <p:extLst>
      <p:ext uri="{BB962C8B-B14F-4D97-AF65-F5344CB8AC3E}">
        <p14:creationId xmlns:p14="http://schemas.microsoft.com/office/powerpoint/2010/main" val="144918383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6CA1A85-45FE-4208-901D-C1AB70CA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0839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Contract and tenure lead both importance views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28CB1-4981-4F1F-A6ED-A50988BB5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3" name="slide-number-15">
            <a:extLst xmlns:a="http://schemas.openxmlformats.org/drawingml/2006/main">
              <a:ext uri="{FF2B5EF4-FFF2-40B4-BE49-F238E27FC236}">
                <a16:creationId xmlns:a16="http://schemas.microsoft.com/office/drawing/2014/main" id="{7FECE094-BE17-40AF-AAAD-6CAA8C9AB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81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5f7a33c2ba4549"/>
          <a:stretch xmlns:a="http://schemas.openxmlformats.org/drawingml/2006/main"/>
        </p:blipFill>
        <p:spPr>
          <a:xfrm xmlns:a="http://schemas.openxmlformats.org/drawingml/2006/main">
            <a:off x="457200" y="1904109"/>
            <a:ext cx="5334000" cy="3411732"/>
          </a:xfrm>
          <a:prstGeom xmlns:a="http://schemas.openxmlformats.org/drawingml/2006/main" prst="rect">
            <a:avLst/>
          </a:prstGeom>
        </p:spPr>
      </p:pic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1e47e9b28d4bbc"/>
          <a:stretch xmlns:a="http://schemas.openxmlformats.org/drawingml/2006/main"/>
        </p:blipFill>
        <p:spPr>
          <a:xfrm xmlns:a="http://schemas.openxmlformats.org/drawingml/2006/main">
            <a:off x="6191250" y="1848631"/>
            <a:ext cx="5334000" cy="3522689"/>
          </a:xfrm>
          <a:prstGeom xmlns:a="http://schemas.openxmlformats.org/drawingml/2006/main" prst="rect">
            <a:avLst/>
          </a:prstGeom>
        </p:spPr>
      </p:pic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47834B8-4F35-42FA-B98B-334FCA285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4F46E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4F46E5"/>
                </a:solidFill>
                <a:latin typeface="Arial"/>
                <a:ea typeface="Arial"/>
                <a:cs typeface="Arial"/>
              </a:rPr>
              <a:t>Impurity importance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F561A77-1548-49F7-945D-3BF066437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10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Permutation importance on unseen data</a:t>
            </a:r>
          </a:p>
        </p:txBody>
      </p:sp>
    </p:spTree>
    <p:extLst>
      <p:ext uri="{BB962C8B-B14F-4D97-AF65-F5344CB8AC3E}">
        <p14:creationId xmlns:p14="http://schemas.microsoft.com/office/powerpoint/2010/main" val="55649400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0B1C3BF-B8B7-458B-BF8F-1D29ED4F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0839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Random forest leads, but accuracy is not the whole story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048A30-281D-47DF-82C1-4AAD398D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3" name="slide-number-16">
            <a:extLst xmlns:a="http://schemas.openxmlformats.org/drawingml/2006/main">
              <a:ext uri="{FF2B5EF4-FFF2-40B4-BE49-F238E27FC236}">
                <a16:creationId xmlns:a16="http://schemas.microsoft.com/office/drawing/2014/main" id="{C4C732DA-15E3-4856-A3F8-988FCEF5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81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B916BE8-38CF-49F8-9B5B-F9B16909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3143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80.70%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746E131B-A878-4F84-A67D-478F24FD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best test accuracy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71A3933-7FE2-42B1-8E5D-D247E2B8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05250"/>
            <a:ext cx="3143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43F5E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3F5E"/>
                </a:solidFill>
                <a:latin typeface="Arial"/>
                <a:ea typeface="Arial"/>
                <a:cs typeface="Arial"/>
              </a:rPr>
              <a:t>51.07%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B1091F3-71C0-4E29-8508-99BECAFB6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9107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churn recall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F82FE4D-CF2C-447A-981D-44EAF7AB4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14500"/>
            <a:ext cx="590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4F46E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4F46E5"/>
                </a:solidFill>
                <a:latin typeface="Arial"/>
                <a:ea typeface="Arial"/>
                <a:cs typeface="Arial"/>
              </a:rPr>
              <a:t>What we learned</a:t>
            </a:r>
          </a:p>
        </p:txBody>
      </p:sp>
      <p:sp>
        <p:nvSpPr>
          <p:cNvPr id="9" name="bullets">
            <a:extLst xmlns:a="http://schemas.openxmlformats.org/drawingml/2006/main">
              <a:ext uri="{FF2B5EF4-FFF2-40B4-BE49-F238E27FC236}">
                <a16:creationId xmlns:a16="http://schemas.microsoft.com/office/drawing/2014/main" id="{ED16EB1A-65A7-46F5-9BE2-0A0AFC1B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81250"/>
            <a:ext cx="62865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•  Contract and tenure are the strongest predictive signals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•  Short tenure and month-to-month contracts identify higher-risk groups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•  Importance explains reliance—not causation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•  False negatives show why accuracy alone is insufficient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8D258822-CF22-4DBE-84EC-48D90483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44830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Next step: validate on current real-world customer data.</a:t>
            </a:r>
          </a:p>
        </p:txBody>
      </p:sp>
    </p:spTree>
    <p:extLst>
      <p:ext uri="{BB962C8B-B14F-4D97-AF65-F5344CB8AC3E}">
        <p14:creationId xmlns:p14="http://schemas.microsoft.com/office/powerpoint/2010/main" val="11705848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2026-07-27T10:24:22.8140000Z</dcterms:created>
  <dcterms:modified xsi:type="dcterms:W3CDTF">2026-07-27T10:24:22.8140000Z</dcterms:modified>
</coreProperties>
</file>