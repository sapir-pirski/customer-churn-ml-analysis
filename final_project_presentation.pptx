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8a1b3d1f284e29" /><Relationship Type="http://schemas.openxmlformats.org/officeDocument/2006/relationships/extended-properties" Target="/docProps/app.xml" Id="R347e912ebe0e41e6" /><Relationship Type="http://schemas.openxmlformats.org/officeDocument/2006/relationships/officeDocument" Target="/ppt/presentation.xml" Id="Re12011ee710248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39fcb4567e418a"/>
  </p:sldMasterIdLst>
  <p:notesMasterIdLst>
    <p:notesMasterId xmlns:r="http://schemas.openxmlformats.org/officeDocument/2006/relationships" r:id="R6fe1d9b0795c4332"/>
  </p:notesMasterIdLst>
  <p:sldIdLst>
    <p:sldId xmlns:r="http://schemas.openxmlformats.org/officeDocument/2006/relationships" id="256" r:id="R3cbbed1b468b42d7"/>
    <p:sldId xmlns:r="http://schemas.openxmlformats.org/officeDocument/2006/relationships" id="257" r:id="Rd7db35dd134a4c2f"/>
    <p:sldId xmlns:r="http://schemas.openxmlformats.org/officeDocument/2006/relationships" id="258" r:id="Rb86b6aedde434347"/>
    <p:sldId xmlns:r="http://schemas.openxmlformats.org/officeDocument/2006/relationships" id="259" r:id="R55ad1afc430f4ee3"/>
    <p:sldId xmlns:r="http://schemas.openxmlformats.org/officeDocument/2006/relationships" id="260" r:id="R608d12d70c254684"/>
    <p:sldId xmlns:r="http://schemas.openxmlformats.org/officeDocument/2006/relationships" id="261" r:id="R0422cfcf97ab4d77"/>
    <p:sldId xmlns:r="http://schemas.openxmlformats.org/officeDocument/2006/relationships" id="262" r:id="Rbfbe52aaf1914af7"/>
    <p:sldId xmlns:r="http://schemas.openxmlformats.org/officeDocument/2006/relationships" id="263" r:id="Rb7a2ea28fcd44861"/>
    <p:sldId xmlns:r="http://schemas.openxmlformats.org/officeDocument/2006/relationships" id="264" r:id="Rb1366a09434d4d1c"/>
    <p:sldId xmlns:r="http://schemas.openxmlformats.org/officeDocument/2006/relationships" id="265" r:id="R5f41e08fa6dd4f90"/>
    <p:sldId xmlns:r="http://schemas.openxmlformats.org/officeDocument/2006/relationships" id="266" r:id="Red21c7fa20344f1c"/>
    <p:sldId xmlns:r="http://schemas.openxmlformats.org/officeDocument/2006/relationships" id="267" r:id="R903747cf84724290"/>
    <p:sldId xmlns:r="http://schemas.openxmlformats.org/officeDocument/2006/relationships" id="268" r:id="R930cacf744344594"/>
    <p:sldId xmlns:r="http://schemas.openxmlformats.org/officeDocument/2006/relationships" id="269" r:id="R6e8c673446734a6e"/>
    <p:sldId xmlns:r="http://schemas.openxmlformats.org/officeDocument/2006/relationships" id="270" r:id="Rf8b756d64e1c4c21"/>
    <p:sldId xmlns:r="http://schemas.openxmlformats.org/officeDocument/2006/relationships" id="271" r:id="R223bf1018bc844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77cb546d74051" /><Relationship Type="http://schemas.openxmlformats.org/officeDocument/2006/relationships/slideMaster" Target="/ppt/slideMasters/slideMaster1.xml" Id="R3539fcb4567e418a" /><Relationship Type="http://schemas.openxmlformats.org/officeDocument/2006/relationships/notesMaster" Target="/ppt/notesMasters/notesMaster1.xml" Id="R6fe1d9b0795c4332" /><Relationship Type="http://schemas.openxmlformats.org/officeDocument/2006/relationships/presProps" Target="/ppt/presProps.xml" Id="R4b45b60d21014289" /><Relationship Type="http://schemas.openxmlformats.org/officeDocument/2006/relationships/tableStyles" Target="/ppt/tableStyles.xml" Id="R7f873dd448f74f99" /><Relationship Type="http://schemas.openxmlformats.org/officeDocument/2006/relationships/slide" Target="/ppt/slides/slide1.xml" Id="R3cbbed1b468b42d7" /><Relationship Type="http://schemas.openxmlformats.org/officeDocument/2006/relationships/slide" Target="/ppt/slides/slide2.xml" Id="Rd7db35dd134a4c2f" /><Relationship Type="http://schemas.openxmlformats.org/officeDocument/2006/relationships/slide" Target="/ppt/slides/slide3.xml" Id="Rb86b6aedde434347" /><Relationship Type="http://schemas.openxmlformats.org/officeDocument/2006/relationships/slide" Target="/ppt/slides/slide4.xml" Id="R55ad1afc430f4ee3" /><Relationship Type="http://schemas.openxmlformats.org/officeDocument/2006/relationships/slide" Target="/ppt/slides/slide5.xml" Id="R608d12d70c254684" /><Relationship Type="http://schemas.openxmlformats.org/officeDocument/2006/relationships/slide" Target="/ppt/slides/slide6.xml" Id="R0422cfcf97ab4d77" /><Relationship Type="http://schemas.openxmlformats.org/officeDocument/2006/relationships/slide" Target="/ppt/slides/slide7.xml" Id="Rbfbe52aaf1914af7" /><Relationship Type="http://schemas.openxmlformats.org/officeDocument/2006/relationships/slide" Target="/ppt/slides/slide8.xml" Id="Rb7a2ea28fcd44861" /><Relationship Type="http://schemas.openxmlformats.org/officeDocument/2006/relationships/slide" Target="/ppt/slides/slide9.xml" Id="Rb1366a09434d4d1c" /><Relationship Type="http://schemas.openxmlformats.org/officeDocument/2006/relationships/slide" Target="/ppt/slides/slide10.xml" Id="R5f41e08fa6dd4f90" /><Relationship Type="http://schemas.openxmlformats.org/officeDocument/2006/relationships/slide" Target="/ppt/slides/slide11.xml" Id="Red21c7fa20344f1c" /><Relationship Type="http://schemas.openxmlformats.org/officeDocument/2006/relationships/slide" Target="/ppt/slides/slide12.xml" Id="R903747cf84724290" /><Relationship Type="http://schemas.openxmlformats.org/officeDocument/2006/relationships/slide" Target="/ppt/slides/slide13.xml" Id="R930cacf744344594" /><Relationship Type="http://schemas.openxmlformats.org/officeDocument/2006/relationships/slide" Target="/ppt/slides/slide14.xml" Id="R6e8c673446734a6e" /><Relationship Type="http://schemas.openxmlformats.org/officeDocument/2006/relationships/slide" Target="/ppt/slides/slide15.xml" Id="Rf8b756d64e1c4c21" /><Relationship Type="http://schemas.openxmlformats.org/officeDocument/2006/relationships/slide" Target="/ppt/slides/slide16.xml" Id="R223bf1018bc8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63e6b687eb4c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113a47e4e4223" /><Relationship Type="http://schemas.openxmlformats.org/officeDocument/2006/relationships/notesMaster" Target="/ppt/notesMasters/notesMaster1.xml" Id="R24ecadfe786d4f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65b53689c14d1d" /><Relationship Type="http://schemas.openxmlformats.org/officeDocument/2006/relationships/notesMaster" Target="/ppt/notesMasters/notesMaster1.xml" Id="Rf83f2571c58d47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624f145794c9d" /><Relationship Type="http://schemas.openxmlformats.org/officeDocument/2006/relationships/notesMaster" Target="/ppt/notesMasters/notesMaster1.xml" Id="R810c2137302e47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601df61d1641de" /><Relationship Type="http://schemas.openxmlformats.org/officeDocument/2006/relationships/notesMaster" Target="/ppt/notesMasters/notesMaster1.xml" Id="Rbe17a81523d242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77ad34c1b94909" /><Relationship Type="http://schemas.openxmlformats.org/officeDocument/2006/relationships/notesMaster" Target="/ppt/notesMasters/notesMaster1.xml" Id="R54db80d6b2794a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f5e4ac0fbf42ad" /><Relationship Type="http://schemas.openxmlformats.org/officeDocument/2006/relationships/notesMaster" Target="/ppt/notesMasters/notesMaster1.xml" Id="Rf56465cde6fa4f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cd93deff90494e" /><Relationship Type="http://schemas.openxmlformats.org/officeDocument/2006/relationships/notesMaster" Target="/ppt/notesMasters/notesMaster1.xml" Id="R7879a6327e804e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e7f65dc8744eb1" /><Relationship Type="http://schemas.openxmlformats.org/officeDocument/2006/relationships/notesMaster" Target="/ppt/notesMasters/notesMaster1.xml" Id="Re7a13588957e4b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c94c6515f34e72" /><Relationship Type="http://schemas.openxmlformats.org/officeDocument/2006/relationships/notesMaster" Target="/ppt/notesMasters/notesMaster1.xml" Id="R90cc58d73ccb4f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389e52dde84345" /><Relationship Type="http://schemas.openxmlformats.org/officeDocument/2006/relationships/notesMaster" Target="/ppt/notesMasters/notesMaster1.xml" Id="Rafcfa16f956048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0965d0e52b4a9d" /><Relationship Type="http://schemas.openxmlformats.org/officeDocument/2006/relationships/notesMaster" Target="/ppt/notesMasters/notesMaster1.xml" Id="Rf1c33d6e2e634a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653a35ea094a23" /><Relationship Type="http://schemas.openxmlformats.org/officeDocument/2006/relationships/notesMaster" Target="/ppt/notesMasters/notesMaster1.xml" Id="R9727439bd1234d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a30542ebdf4d1c" /><Relationship Type="http://schemas.openxmlformats.org/officeDocument/2006/relationships/notesMaster" Target="/ppt/notesMasters/notesMaster1.xml" Id="R7e999fa2dc454a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16c351cbdc4bbe" /><Relationship Type="http://schemas.openxmlformats.org/officeDocument/2006/relationships/notesMaster" Target="/ppt/notesMasters/notesMaster1.xml" Id="R68677b269ab74d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85429abd734e61" /><Relationship Type="http://schemas.openxmlformats.org/officeDocument/2006/relationships/notesMaster" Target="/ppt/notesMasters/notesMaster1.xml" Id="Rbae66c2e7d7442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4d1c3bd1d84bcf" /><Relationship Type="http://schemas.openxmlformats.org/officeDocument/2006/relationships/notesMaster" Target="/ppt/notesMasters/notesMaster1.xml" Id="R57078eaeaf944a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CONTRIBUTORS.md</a:t>
            </a:r>
          </a:p>
          <a:p xmlns:a="http://schemas.openxmlformats.org/drawingml/2006/main">
            <a:r>
              <a:t>- final_project.ipynb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Section 1: The problem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data summary and stratified split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label distribution and missing-value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Graph 2: churn rate by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Graph 3: tenure ECDF by churn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Graph 4: monthly charges</a:t>
            </a:r>
          </a:p>
          <a:p xmlns:a="http://schemas.openxmlformats.org/drawingml/2006/main">
            <a:r>
              <a:t>- final_project.ipynb — Graph 5: internet 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Graph 6: payment method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Section 5: data engineering and feature ablation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Section 6: evaluation design and baseline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Section 7: K-nearest neighbors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Section 8: decision-tree tuning and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Section 9: random-forest 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Section 10: final untouched-test evaluation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random-forest impurity importance</a:t>
            </a:r>
          </a:p>
          <a:p xmlns:a="http://schemas.openxmlformats.org/drawingml/2006/main">
            <a:r>
              <a:t>- final_project.ipynb — permutation importance on the untouched test 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final_project.ipynb — Sections 10–13: evaluation, introspection, error analysis, conclusions</a:t>
            </a:r>
          </a:p>
          <a:p xmlns:a="http://schemas.openxmlformats.org/drawingml/2006/main">
            <a:r>
              <a:t>- All performance values and plots are reproduced from the executed notebook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2548ca57e44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3e6b8f09454fe2" /><Relationship Type="http://schemas.openxmlformats.org/officeDocument/2006/relationships/slideLayout" Target="/ppt/slideLayouts/slideLayout1.xml" Id="R9288f96db0c945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88f96db0c945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54317fd7b4a22" /><Relationship Type="http://schemas.openxmlformats.org/officeDocument/2006/relationships/notesSlide" Target="/ppt/notesSlides/notesSlide1.xml" Id="R7a538759aeb24c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3818cec90400d" /><Relationship Type="http://schemas.openxmlformats.org/officeDocument/2006/relationships/notesSlide" Target="/ppt/notesSlides/notesSlide2.xml" Id="R2bc0bb122b7a4e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c1f0b5076456a" /><Relationship Type="http://schemas.openxmlformats.org/officeDocument/2006/relationships/notesSlide" Target="/ppt/notesSlides/notesSlide3.xml" Id="Reabe95f1fe9f4e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79eea8b114eb1" /><Relationship Type="http://schemas.openxmlformats.org/officeDocument/2006/relationships/image" Target="/ppt/media/image.png" Id="R3a0068e116084d9a" /><Relationship Type="http://schemas.openxmlformats.org/officeDocument/2006/relationships/notesSlide" Target="/ppt/notesSlides/notesSlide4.xml" Id="Rdf6502f9af7742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a033e13224250" /><Relationship Type="http://schemas.openxmlformats.org/officeDocument/2006/relationships/image" Target="/ppt/media/image2.png" Id="R1e041224bb664910" /><Relationship Type="http://schemas.openxmlformats.org/officeDocument/2006/relationships/notesSlide" Target="/ppt/notesSlides/notesSlide5.xml" Id="R39518a4cf030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ac478c96f4709" /><Relationship Type="http://schemas.openxmlformats.org/officeDocument/2006/relationships/image" Target="/ppt/media/image3.png" Id="R254450b80d4747a4" /><Relationship Type="http://schemas.openxmlformats.org/officeDocument/2006/relationships/notesSlide" Target="/ppt/notesSlides/notesSlide6.xml" Id="R1bec05ee721a44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1c7e6b0d44336" /><Relationship Type="http://schemas.openxmlformats.org/officeDocument/2006/relationships/image" Target="/ppt/media/image4.png" Id="Rd5f9b43c4e4a4de4" /><Relationship Type="http://schemas.openxmlformats.org/officeDocument/2006/relationships/image" Target="/ppt/media/image5.png" Id="R7af9788d8ce44c1a" /><Relationship Type="http://schemas.openxmlformats.org/officeDocument/2006/relationships/notesSlide" Target="/ppt/notesSlides/notesSlide7.xml" Id="R912fc2a0ebe34d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bc143d7184cad" /><Relationship Type="http://schemas.openxmlformats.org/officeDocument/2006/relationships/image" Target="/ppt/media/image6.png" Id="R9c1eaaf90fa34740" /><Relationship Type="http://schemas.openxmlformats.org/officeDocument/2006/relationships/notesSlide" Target="/ppt/notesSlides/notesSlide8.xml" Id="R5e5d2314cb444e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6d2ff1e1242b6" /><Relationship Type="http://schemas.openxmlformats.org/officeDocument/2006/relationships/image" Target="/ppt/media/image7.png" Id="Rfe3e80a07df94857" /><Relationship Type="http://schemas.openxmlformats.org/officeDocument/2006/relationships/notesSlide" Target="/ppt/notesSlides/notesSlide9.xml" Id="R7573b46403a445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11f0508c34ff5" /><Relationship Type="http://schemas.openxmlformats.org/officeDocument/2006/relationships/notesSlide" Target="/ppt/notesSlides/notesSlide10.xml" Id="R88f090a087484f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588fa55b04b21" /><Relationship Type="http://schemas.openxmlformats.org/officeDocument/2006/relationships/image" Target="/ppt/media/image8.png" Id="Rdbd726bdd0f14995" /><Relationship Type="http://schemas.openxmlformats.org/officeDocument/2006/relationships/notesSlide" Target="/ppt/notesSlides/notesSlide11.xml" Id="Rde20ce500cf84e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b5b976613432c" /><Relationship Type="http://schemas.openxmlformats.org/officeDocument/2006/relationships/image" Target="/ppt/media/image9.png" Id="Rb71b72d49a9f4f61" /><Relationship Type="http://schemas.openxmlformats.org/officeDocument/2006/relationships/image" Target="/ppt/media/image10.png" Id="R9b2620fd80674ece" /><Relationship Type="http://schemas.openxmlformats.org/officeDocument/2006/relationships/notesSlide" Target="/ppt/notesSlides/notesSlide12.xml" Id="Rdc32ea479d7d40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f7feb99824d9a" /><Relationship Type="http://schemas.openxmlformats.org/officeDocument/2006/relationships/image" Target="/ppt/media/image11.png" Id="R73b055a1e3394396" /><Relationship Type="http://schemas.openxmlformats.org/officeDocument/2006/relationships/notesSlide" Target="/ppt/notesSlides/notesSlide13.xml" Id="Rc9fe5b6311bb4b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bdc2ddfd84fd2" /><Relationship Type="http://schemas.openxmlformats.org/officeDocument/2006/relationships/image" Target="/ppt/media/image12.png" Id="R6238b5f019b24d47" /><Relationship Type="http://schemas.openxmlformats.org/officeDocument/2006/relationships/notesSlide" Target="/ppt/notesSlides/notesSlide14.xml" Id="R6ea9a196717e41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0c038934c481c" /><Relationship Type="http://schemas.openxmlformats.org/officeDocument/2006/relationships/image" Target="/ppt/media/image13.png" Id="Rd50cdf0071794301" /><Relationship Type="http://schemas.openxmlformats.org/officeDocument/2006/relationships/image" Target="/ppt/media/image14.png" Id="Rcfc96a673a044a00" /><Relationship Type="http://schemas.openxmlformats.org/officeDocument/2006/relationships/notesSlide" Target="/ppt/notesSlides/notesSlide15.xml" Id="R5e42fed8c66f41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b71f100a349ad" /><Relationship Type="http://schemas.openxmlformats.org/officeDocument/2006/relationships/notesSlide" Target="/ppt/notesSlides/notesSlide16.xml" Id="R193f7e87ce0b43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80FAA4A7-DFB7-46C0-A38D-58F0413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MACHINE LEARNING · FINAL PROJECT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24BC4E03-C9F2-4114-BB88-96E6D9EE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19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Customer Churn</a:t>
            </a:r>
          </a:p>
          <a:p xmlns:a="http://schemas.openxmlformats.org/drawingml/2006/main">
            <a:pPr algn="l">
              <a:defRPr sz="4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9A283-FF16-4CA1-88C7-AB4AF0C9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F43F5E"/>
            </a:solidFill>
            <a:prstDash val="solid"/>
          </a:ln>
        </p:spPr>
      </p:sp>
      <p:sp>
        <p:nvSpPr>
          <p:cNvPr id="4" name="team">
            <a:extLst xmlns:a="http://schemas.openxmlformats.org/drawingml/2006/main">
              <a:ext uri="{FF2B5EF4-FFF2-40B4-BE49-F238E27FC236}">
                <a16:creationId xmlns:a16="http://schemas.microsoft.com/office/drawing/2014/main" id="{B94CB470-57E5-41C4-BF45-429D82AD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Menachem Twersky</a:t>
            </a:r>
          </a:p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Roni Reichbard</a:t>
            </a:r>
          </a:p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Sapir Pirski</a:t>
            </a:r>
          </a:p>
        </p:txBody>
      </p:sp>
      <p:sp>
        <p:nvSpPr>
          <p:cNvPr id="5" name="project-highlights">
            <a:extLst xmlns:a="http://schemas.openxmlformats.org/drawingml/2006/main">
              <a:ext uri="{FF2B5EF4-FFF2-40B4-BE49-F238E27FC236}">
                <a16:creationId xmlns:a16="http://schemas.microsoft.com/office/drawing/2014/main" id="{DC6F3FAA-B7CA-4F61-9286-F6F5A133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05450"/>
            <a:ext cx="5019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7,043 customers · 19 predictive features</a:t>
            </a:r>
          </a:p>
          <a:p xmlns:a="http://schemas.openxmlformats.org/drawingml/2006/main">
            <a:pPr algn="r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 ML algorithms · 80.70% best test accuracy</a:t>
            </a:r>
          </a:p>
        </p:txBody>
      </p:sp>
    </p:spTree>
    <p:extLst>
      <p:ext uri="{BB962C8B-B14F-4D97-AF65-F5344CB8AC3E}">
        <p14:creationId xmlns:p14="http://schemas.microsoft.com/office/powerpoint/2010/main" val="1336006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44EB7D-75FC-4721-8AF5-30338F8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task is to identify customers at risk of leaving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B2BCA-A961-4186-9A32-0D284CED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00577D2-9B25-48A1-9340-23F375B9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9B3A84-178F-4B09-A812-C98D40B4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F18B47-5BC2-4B4B-8C89-525BEC5C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238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Churn</a:t>
            </a:r>
          </a:p>
          <a:p xmlns:a="http://schemas.openxmlformats.org/drawingml/2006/main">
            <a:pPr algn="l">
              <a:defRPr sz="33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Yes or No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B71302-F28F-4DB4-9181-F3C0A793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CF543DFD-93B5-4A76-BEBD-65012E58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6572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•  Demographics and tenure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•  Subscribed services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•  Contract and billing choices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•  Monthly and total charges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1DCBB-368F-4D9D-B676-992218A1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F621C3F-5CE9-4092-8255-307480B1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Application: prioritize retention contact and investigate service patterns. The model estimates risk; it does not prove why a customer leaves.</a:t>
            </a:r>
          </a:p>
        </p:txBody>
      </p:sp>
    </p:spTree>
    <p:extLst>
      <p:ext uri="{BB962C8B-B14F-4D97-AF65-F5344CB8AC3E}">
        <p14:creationId xmlns:p14="http://schemas.microsoft.com/office/powerpoint/2010/main" val="1101435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EAA84E-CF8B-499E-8AD1-BDE611DF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Dataset: 7,043 customers split reproducibly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A67A4-A380-4E79-AD81-669EC751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E75451D-6D22-4BE6-AD34-60E123DE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1D9FDEB-D13B-429C-A57B-DC786831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source has 20 inputs and one binary target. A stratified split preserves the 26.54% churn rate in both subsets.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2BFBF-AAA7-4AA4-8553-E51234CF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4F46E5"/>
            </a:solidFill>
            <a:prstDash val="solid"/>
          </a:ln>
        </p:spPr>
      </p:sp>
      <p:sp>
        <p:nvSpPr>
          <p:cNvPr id="6" name="metric-customers">
            <a:extLst xmlns:a="http://schemas.openxmlformats.org/drawingml/2006/main">
              <a:ext uri="{FF2B5EF4-FFF2-40B4-BE49-F238E27FC236}">
                <a16:creationId xmlns:a16="http://schemas.microsoft.com/office/drawing/2014/main" id="{C8E96893-F651-432F-8CEB-BDDABA4A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7,043</a:t>
            </a:r>
          </a:p>
        </p:txBody>
      </p:sp>
      <p:sp>
        <p:nvSpPr>
          <p:cNvPr id="7" name="metric-label-customers">
            <a:extLst xmlns:a="http://schemas.openxmlformats.org/drawingml/2006/main">
              <a:ext uri="{FF2B5EF4-FFF2-40B4-BE49-F238E27FC236}">
                <a16:creationId xmlns:a16="http://schemas.microsoft.com/office/drawing/2014/main" id="{C5EB57A3-C575-4C5A-A0E1-9846780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51E54-072C-49A5-B23E-A8C7D017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9" name="metric-training examples">
            <a:extLst xmlns:a="http://schemas.openxmlformats.org/drawingml/2006/main">
              <a:ext uri="{FF2B5EF4-FFF2-40B4-BE49-F238E27FC236}">
                <a16:creationId xmlns:a16="http://schemas.microsoft.com/office/drawing/2014/main" id="{BBA82D94-4A42-4535-86C4-3C2E7FE0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5,634</a:t>
            </a:r>
          </a:p>
        </p:txBody>
      </p:sp>
      <p:sp>
        <p:nvSpPr>
          <p:cNvPr id="10" name="metric-label-training examples">
            <a:extLst xmlns:a="http://schemas.openxmlformats.org/drawingml/2006/main">
              <a:ext uri="{FF2B5EF4-FFF2-40B4-BE49-F238E27FC236}">
                <a16:creationId xmlns:a16="http://schemas.microsoft.com/office/drawing/2014/main" id="{7DAA5916-4F96-4F51-8127-4B01F57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training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306DB-3A5B-423A-82BB-D095955D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575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F43F5E"/>
            </a:solidFill>
            <a:prstDash val="solid"/>
          </a:ln>
        </p:spPr>
      </p:sp>
      <p:sp>
        <p:nvSpPr>
          <p:cNvPr id="12" name="metric-test examples">
            <a:extLst xmlns:a="http://schemas.openxmlformats.org/drawingml/2006/main">
              <a:ext uri="{FF2B5EF4-FFF2-40B4-BE49-F238E27FC236}">
                <a16:creationId xmlns:a16="http://schemas.microsoft.com/office/drawing/2014/main" id="{B6E873F6-1EA8-435D-A29B-AC85A62E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1,409</a:t>
            </a:r>
          </a:p>
        </p:txBody>
      </p:sp>
      <p:sp>
        <p:nvSpPr>
          <p:cNvPr id="13" name="metric-label-test examples">
            <a:extLst xmlns:a="http://schemas.openxmlformats.org/drawingml/2006/main">
              <a:ext uri="{FF2B5EF4-FFF2-40B4-BE49-F238E27FC236}">
                <a16:creationId xmlns:a16="http://schemas.microsoft.com/office/drawing/2014/main" id="{F3757486-A7AD-48C4-B3D0-228240C9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test examples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A19056D-FA2E-41B0-B409-73DFB0BE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20 original input features</a:t>
            </a:r>
          </a:p>
        </p:txBody>
      </p:sp>
    </p:spTree>
    <p:extLst>
      <p:ext uri="{BB962C8B-B14F-4D97-AF65-F5344CB8AC3E}">
        <p14:creationId xmlns:p14="http://schemas.microsoft.com/office/powerpoint/2010/main" val="261312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467A48-7452-410B-A455-CF9E5E23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Churn is the minority class, and blanks require a semantic 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ECAB7-C164-4FE9-98DD-6AF101E4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62663D6D-2474-44BD-9C93-4709CA3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068e116084d9a"/>
          <a:stretch xmlns:a="http://schemas.openxmlformats.org/drawingml/2006/main"/>
        </p:blipFill>
        <p:spPr>
          <a:xfrm xmlns:a="http://schemas.openxmlformats.org/drawingml/2006/main">
            <a:off x="457200" y="1886688"/>
            <a:ext cx="6953250" cy="1941624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357AE2-0E83-4ED8-BE2F-322BB7AD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11 blank values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716FB85-15AF-4D85-A9B5-C32B9542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TotalCharges contains blank strings rather than standard nulls. Every affected customer has zero tenure, so the value is set to zero.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3EA55C-63AF-4946-8CC8-22959495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95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73.46% retained share defines the majority-class accuracy baseline.</a:t>
            </a:r>
          </a:p>
        </p:txBody>
      </p:sp>
    </p:spTree>
    <p:extLst>
      <p:ext uri="{BB962C8B-B14F-4D97-AF65-F5344CB8AC3E}">
        <p14:creationId xmlns:p14="http://schemas.microsoft.com/office/powerpoint/2010/main" val="906978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598DAD-2807-4846-9DA2-FB29F349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Month-to-month contracts have the highest observed churn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259D6-D8E2-475D-AF61-6CE5CFB5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385643EB-2506-44D3-8655-9871E02D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41224bb664910"/>
          <a:stretch xmlns:a="http://schemas.openxmlformats.org/drawingml/2006/main"/>
        </p:blipFill>
        <p:spPr>
          <a:xfrm xmlns:a="http://schemas.openxmlformats.org/drawingml/2006/main">
            <a:off x="457200" y="1982325"/>
            <a:ext cx="8096250" cy="3274351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DDBCA2-56E0-4AFF-AAAD-72EDF1C4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42.7%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35EDC1-FCCF-452D-AFD2-D3AD1815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0375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month-to-month</a:t>
            </a:r>
          </a:p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churn rate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B8CD2A0-C2AE-47A6-A91D-7DDE7F5C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Association ≠ causation</a:t>
            </a:r>
          </a:p>
        </p:txBody>
      </p:sp>
    </p:spTree>
    <p:extLst>
      <p:ext uri="{BB962C8B-B14F-4D97-AF65-F5344CB8AC3E}">
        <p14:creationId xmlns:p14="http://schemas.microsoft.com/office/powerpoint/2010/main" val="53482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B52FE1-9138-47FD-95EC-92CFEE31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Churn concentrates among newer customers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9344B-9168-4A23-AEC0-77D6E11F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3850706C-0DD9-492A-81F7-D841EA69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450b80d4747a4"/>
          <a:stretch xmlns:a="http://schemas.openxmlformats.org/drawingml/2006/main"/>
        </p:blipFill>
        <p:spPr>
          <a:xfrm xmlns:a="http://schemas.openxmlformats.org/drawingml/2006/main">
            <a:off x="457200" y="1881271"/>
            <a:ext cx="7620000" cy="3743158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C3A58F-520B-452B-BD46-12B36680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Why ECDF?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C11A45B-22F2-4186-B223-C81E6896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It shows the full cumulative distribution without choosing arbitrary histogram bins.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8DAC416-94AC-4CFB-9DA2-76296471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Implication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2CEB07-D525-4B8E-AA0B-F7768A74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57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Early-lifecycle experience is an important predictive signal.</a:t>
            </a:r>
          </a:p>
        </p:txBody>
      </p:sp>
    </p:spTree>
    <p:extLst>
      <p:ext uri="{BB962C8B-B14F-4D97-AF65-F5344CB8AC3E}">
        <p14:creationId xmlns:p14="http://schemas.microsoft.com/office/powerpoint/2010/main" val="1497050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7E3068-4958-440B-AC95-A8AEA38A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Charges and service type add predictive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575C5-52B6-46DB-B3FC-A1ACAC3F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EA5689F0-FC64-43FA-90E4-187F4EF1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9b43c4e4a4de4"/>
          <a:stretch xmlns:a="http://schemas.openxmlformats.org/drawingml/2006/main"/>
        </p:blipFill>
        <p:spPr>
          <a:xfrm xmlns:a="http://schemas.openxmlformats.org/drawingml/2006/main">
            <a:off x="457200" y="2261770"/>
            <a:ext cx="5334000" cy="2620211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9788d8ce44c1a"/>
          <a:stretch xmlns:a="http://schemas.openxmlformats.org/drawingml/2006/main"/>
        </p:blipFill>
        <p:spPr>
          <a:xfrm xmlns:a="http://schemas.openxmlformats.org/drawingml/2006/main">
            <a:off x="6191250" y="2498020"/>
            <a:ext cx="5334000" cy="2147709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13BB59B-AF83-4494-AEED-88833019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Churned customers have a higher median monthly charge.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2F5983-ECC9-4E92-8EB8-011F81A9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72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Fiber-optic customers show the highest observed churn.</a:t>
            </a:r>
          </a:p>
        </p:txBody>
      </p:sp>
    </p:spTree>
    <p:extLst>
      <p:ext uri="{BB962C8B-B14F-4D97-AF65-F5344CB8AC3E}">
        <p14:creationId xmlns:p14="http://schemas.microsoft.com/office/powerpoint/2010/main" val="780971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F1DFFC-003C-4F78-9706-1BC16A70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4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Electronic-check customers show the highest payment-group churn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2AD6B-FE62-4D93-B62F-0A7B026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93CD0B32-C81C-427C-BC2C-90B8D8F3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eaaf90fa34740"/>
          <a:stretch xmlns:a="http://schemas.openxmlformats.org/drawingml/2006/main"/>
        </p:blipFill>
        <p:spPr>
          <a:xfrm xmlns:a="http://schemas.openxmlformats.org/drawingml/2006/main">
            <a:off x="457200" y="1839226"/>
            <a:ext cx="8001000" cy="3846299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BCEF8A5-3D75-4226-A48E-5A258D54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Interpret carefully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0A6CB6-6014-4533-BC05-43C0D115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38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Payment method may reflect convenience, contract structure, or engagement. This chart does not establish a direct causal effect.</a:t>
            </a:r>
          </a:p>
        </p:txBody>
      </p:sp>
    </p:spTree>
    <p:extLst>
      <p:ext uri="{BB962C8B-B14F-4D97-AF65-F5344CB8AC3E}">
        <p14:creationId xmlns:p14="http://schemas.microsoft.com/office/powerpoint/2010/main" val="1710788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58966A-3338-47E4-9722-246A157D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Engineered features did not improve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B7C74-83C9-48DA-ABAB-FE312B63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1C0EA970-BD06-4FE3-8DCB-4435354B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e80a07df94857"/>
          <a:stretch xmlns:a="http://schemas.openxmlformats.org/drawingml/2006/main"/>
        </p:blipFill>
        <p:spPr>
          <a:xfrm xmlns:a="http://schemas.openxmlformats.org/drawingml/2006/main">
            <a:off x="457200" y="2324313"/>
            <a:ext cx="6191250" cy="2609425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A38411-1A47-4DD4-AFCE-99FF2E53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Removed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17B1AC-625E-4F91-9F16-F8BA5907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customerID — unique identifiers do not generalize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B978A7-479F-4374-9C20-E21A53BB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Tested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774381-E11E-41DC-B631-6C0F09AC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Lifecycle, grouped service counts, automatic payment, and interaction features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2DFA578-E876-4777-ADB1-787785EA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B7DD76-298B-495F-9BB8-C2CCA3D3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149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Keep the original 19 predictive features: they validate best.</a:t>
            </a:r>
          </a:p>
        </p:txBody>
      </p:sp>
    </p:spTree>
    <p:extLst>
      <p:ext uri="{BB962C8B-B14F-4D97-AF65-F5344CB8AC3E}">
        <p14:creationId xmlns:p14="http://schemas.microsoft.com/office/powerpoint/2010/main" val="12583395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302F1A-FAF1-4F08-8342-EE018FF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training-only selection process protects the final test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ECE32-2CBB-4919-8D5B-481FDC7D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FE213406-00ED-451C-BA1C-39E607C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AF5C13-1E5C-4E9B-858A-D55F3EA2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D735C-D3E4-4092-B063-A0D89E67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21FC6A-F3B2-4971-9694-79261220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Stratified split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D06AEE5-3CDB-4AE4-A262-E6D52EB5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80% train · 20% test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80B85B4-AF9E-4C64-8B4D-2640B1C5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29790-8142-4765-B1DC-55FEFE14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4821481-9347-4601-A8D5-E3082A06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Pipeline preprocessing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2E04F69-9E63-47AF-9B66-7F62847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Fit within each fold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D30954-81BA-4AA8-B293-C3BE81EB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20A64-37B3-4D3E-96CF-BB9ED3A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DB538EE-2175-45F4-BFCB-4F876A52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Five-fold CV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4429E13-A68F-4F68-B65C-4D9EE1C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Choose features and parameters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10F9560-C473-4F4D-BB7D-23D629FB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F4CED-C1AD-4FC6-BE20-B0786040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F43F5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460D7C2-D47A-4CD0-8C46-07E51AAD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Final evaluation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06FD0A2-4F50-441F-9EDC-15914434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Use untouched test once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BF1AA91-3875-43C1-925D-DB1ACB57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Primary selection metric: accuracy · Supporting diagnostics: recall, precision, F1, balanced accuracy, ROC-AUC, PR-AUC and MCC</a:t>
            </a:r>
          </a:p>
        </p:txBody>
      </p:sp>
    </p:spTree>
    <p:extLst>
      <p:ext uri="{BB962C8B-B14F-4D97-AF65-F5344CB8AC3E}">
        <p14:creationId xmlns:p14="http://schemas.microsoft.com/office/powerpoint/2010/main" val="11784076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4E2BD5-D49E-44D7-9B84-A1BEEE83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KNN is strongest at k=31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5F108-1E66-4418-B514-3FB7E49C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9DB42BB1-0E4D-4966-BC3E-D164D19C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726bdd0f14995"/>
          <a:stretch xmlns:a="http://schemas.openxmlformats.org/drawingml/2006/main"/>
        </p:blipFill>
        <p:spPr>
          <a:xfrm xmlns:a="http://schemas.openxmlformats.org/drawingml/2006/main">
            <a:off x="457200" y="2098146"/>
            <a:ext cx="7239000" cy="3328458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C600B8-82FF-4459-942B-2C2265E2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EA0980-C91F-4DDF-B6BC-862A4C4C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85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 = 5, 11, 21, 31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uniform / distance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Manhattan / Euclidean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618A4D-9D3F-4F8B-A71C-71C64BE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Best CV accuracy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C0DBCF-3CA6-4FF2-833B-4BA7C47D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79.45%</a:t>
            </a:r>
          </a:p>
        </p:txBody>
      </p:sp>
    </p:spTree>
    <p:extLst>
      <p:ext uri="{BB962C8B-B14F-4D97-AF65-F5344CB8AC3E}">
        <p14:creationId xmlns:p14="http://schemas.microsoft.com/office/powerpoint/2010/main" val="2142630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16C5E1-CFB2-437F-A65A-F6872908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1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Tree depth exposes the trade-off between readability and overfitting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5E24B-5E31-40E9-9E6D-66EF3B43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306B6E18-278F-46F6-930F-92C979D0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b72d49a9f4f61"/>
          <a:stretch xmlns:a="http://schemas.openxmlformats.org/drawingml/2006/main"/>
        </p:blipFill>
        <p:spPr>
          <a:xfrm xmlns:a="http://schemas.openxmlformats.org/drawingml/2006/main">
            <a:off x="457200" y="2238375"/>
            <a:ext cx="5429250" cy="2667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620fd80674ece"/>
          <a:stretch xmlns:a="http://schemas.openxmlformats.org/drawingml/2006/main"/>
        </p:blipFill>
        <p:spPr>
          <a:xfrm xmlns:a="http://schemas.openxmlformats.org/drawingml/2006/main">
            <a:off x="6810375" y="152400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93F11E-09EA-4A13-B9F2-5AF6361C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Selected: entropy · max_depth=5 · min_samples_leaf=5</a:t>
            </a:r>
          </a:p>
        </p:txBody>
      </p:sp>
    </p:spTree>
    <p:extLst>
      <p:ext uri="{BB962C8B-B14F-4D97-AF65-F5344CB8AC3E}">
        <p14:creationId xmlns:p14="http://schemas.microsoft.com/office/powerpoint/2010/main" val="10855357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F8618D-915B-411B-9668-DCB9218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depth-8 forest performs best in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EE704-423E-468D-81A2-24B434FA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D5116CB6-9EE1-4E9A-BD68-65E0A35B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055a1e3394396"/>
          <a:stretch xmlns:a="http://schemas.openxmlformats.org/drawingml/2006/main"/>
        </p:blipFill>
        <p:spPr>
          <a:xfrm xmlns:a="http://schemas.openxmlformats.org/drawingml/2006/main">
            <a:off x="457200" y="1663881"/>
            <a:ext cx="7334250" cy="4196987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97105C-9A6E-4F32-8E80-6D23CCEB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Best configuration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E3AD1A-F52F-4A12-8EC8-495E9C33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200 estimators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max_depth = 8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max_features = sqrt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min_samples_leaf =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5683A4-C37E-467A-A1CE-8DD21CAF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Mean CV accuracy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80D990-1DC8-44D2-899C-0BB2ED99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53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80.42%</a:t>
            </a:r>
          </a:p>
        </p:txBody>
      </p:sp>
    </p:spTree>
    <p:extLst>
      <p:ext uri="{BB962C8B-B14F-4D97-AF65-F5344CB8AC3E}">
        <p14:creationId xmlns:p14="http://schemas.microsoft.com/office/powerpoint/2010/main" val="20454414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F4432D-0825-4283-92FB-8C30F3C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Random forest achieves the best untouched-test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E36D2-9FAE-4713-A296-3783D2A6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1EE8E98C-4252-4547-A807-82AE37CB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8b5f019b24d47"/>
          <a:stretch xmlns:a="http://schemas.openxmlformats.org/drawingml/2006/main"/>
        </p:blipFill>
        <p:spPr>
          <a:xfrm xmlns:a="http://schemas.openxmlformats.org/drawingml/2006/main">
            <a:off x="457200" y="1767138"/>
            <a:ext cx="6858000" cy="351422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F5604-7428-43F4-972F-02CCF9DB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A255C1-09F2-4EB1-B414-55DCDCF3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812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1C22B9-8B70-42C4-AAA7-92F38AF9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5F5DD1-7258-4E70-A2C3-2A8666A4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812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5B8F4-967C-4626-ACDB-49317E9F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B694777-A485-4D5F-8EFD-4A9C737F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KNN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59890E-8572-4EB9-AE86-B49E40E0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80.85%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5B2CD40-4867-4787-84A5-D08ECFE5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78.42%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29CB9-391F-474C-800C-3CE0494B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B92D875-CBDE-42D8-A88B-07A550E6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52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Decision tree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357F89D-395C-4C94-B452-15B9CC2D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80.28%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2767E6-437C-4794-B470-15261A8C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528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79.84%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0C70B-4807-4A46-99D8-C57936E4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49D847-02E7-4E27-9BAB-ACCE2521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386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2ACDCC7-CE0E-4D34-A34C-78D642B5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38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83.48%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E53DB07-79B5-42B2-98F2-413D7B20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386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80.70%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2704C0D-03A1-4895-99DA-1D0E6650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Accuracy is strongest, but churn recall is 51.07%.</a:t>
            </a:r>
          </a:p>
        </p:txBody>
      </p:sp>
    </p:spTree>
    <p:extLst>
      <p:ext uri="{BB962C8B-B14F-4D97-AF65-F5344CB8AC3E}">
        <p14:creationId xmlns:p14="http://schemas.microsoft.com/office/powerpoint/2010/main" val="6414308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180D6E-8AF5-493D-BBFF-4D7D3992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Contract and tenure lead both importance 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7AD03-26D8-4E76-9980-5DC4EE3C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15">
            <a:extLst xmlns:a="http://schemas.openxmlformats.org/drawingml/2006/main">
              <a:ext uri="{FF2B5EF4-FFF2-40B4-BE49-F238E27FC236}">
                <a16:creationId xmlns:a16="http://schemas.microsoft.com/office/drawing/2014/main" id="{ADFDD7AC-6ED9-4CB2-8FFD-3A9B726B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cdf0071794301"/>
          <a:stretch xmlns:a="http://schemas.openxmlformats.org/drawingml/2006/main"/>
        </p:blipFill>
        <p:spPr>
          <a:xfrm xmlns:a="http://schemas.openxmlformats.org/drawingml/2006/main">
            <a:off x="457200" y="1904109"/>
            <a:ext cx="5334000" cy="3411732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96a673a044a00"/>
          <a:stretch xmlns:a="http://schemas.openxmlformats.org/drawingml/2006/main"/>
        </p:blipFill>
        <p:spPr>
          <a:xfrm xmlns:a="http://schemas.openxmlformats.org/drawingml/2006/main">
            <a:off x="6191250" y="1848631"/>
            <a:ext cx="5334000" cy="3522689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4696F30-225C-462B-BE61-280203C0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Impurity importance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1C559A-9A73-4D29-B72B-BC34A8CF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Permutation importance on unseen data</a:t>
            </a:r>
          </a:p>
        </p:txBody>
      </p:sp>
    </p:spTree>
    <p:extLst>
      <p:ext uri="{BB962C8B-B14F-4D97-AF65-F5344CB8AC3E}">
        <p14:creationId xmlns:p14="http://schemas.microsoft.com/office/powerpoint/2010/main" val="2779017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0E582-03B5-4CFE-A43D-4E77BE96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Random forest leads, but accuracy is not the whole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B8A9E-1FC0-4A88-A759-0F578AD8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" name="slide-number-16">
            <a:extLst xmlns:a="http://schemas.openxmlformats.org/drawingml/2006/main">
              <a:ext uri="{FF2B5EF4-FFF2-40B4-BE49-F238E27FC236}">
                <a16:creationId xmlns:a16="http://schemas.microsoft.com/office/drawing/2014/main" id="{B5FBCB74-37AC-4A66-BADC-45157BEE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AE83FA-E3C1-4C77-9B99-0BB08329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80.70%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E0C495-9959-4208-8484-15820529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best test accuracy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C5470C2-278B-418E-987B-ED57E42A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51.07%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C5FC49-DE00-4EDA-B9A6-78B540C8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churn recall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3DE1F77-B84A-4D30-BC80-597EF38A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9" name="bullets">
            <a:extLst xmlns:a="http://schemas.openxmlformats.org/drawingml/2006/main">
              <a:ext uri="{FF2B5EF4-FFF2-40B4-BE49-F238E27FC236}">
                <a16:creationId xmlns:a16="http://schemas.microsoft.com/office/drawing/2014/main" id="{6412397A-A573-41A7-8661-C5DC05F1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6286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•  Contract and tenure are the strongest predictive signals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•  Short tenure and month-to-month contracts identify higher-risk groups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•  Importance explains reliance—not causation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•  False negatives show why accuracy alone is insufficient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946EDA-186C-442E-B3CB-1EF385EE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483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Next step: validate on current real-world customer data.</a:t>
            </a:r>
          </a:p>
        </p:txBody>
      </p:sp>
    </p:spTree>
    <p:extLst>
      <p:ext uri="{BB962C8B-B14F-4D97-AF65-F5344CB8AC3E}">
        <p14:creationId xmlns:p14="http://schemas.microsoft.com/office/powerpoint/2010/main" val="1650022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2026-07-27T11:25:06.6190000Z</dcterms:created>
  <dcterms:modified xsi:type="dcterms:W3CDTF">2026-07-27T11:25:06.6190000Z</dcterms:modified>
</coreProperties>
</file>